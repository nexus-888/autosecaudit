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1A48"/>
    <a:srgbClr val="77D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2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0C9E03-69DD-4ADE-9155-D71BD24778A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FE908-A1CA-42A0-9134-954F132634C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0010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426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6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7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50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9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27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461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995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007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53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174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2200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6171"/>
            <a:ext cx="12191695" cy="6831828"/>
          </a:xfrm>
          <a:prstGeom prst="rect">
            <a:avLst/>
          </a:prstGeom>
          <a:gradFill rotWithShape="1">
            <a:gsLst>
              <a:gs pos="0">
                <a:srgbClr val="2A1A48">
                  <a:alpha val="95000"/>
                </a:srgbClr>
              </a:gs>
              <a:gs pos="100000">
                <a:srgbClr val="2A1A48">
                  <a:alpha val="8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24867" y="2816091"/>
            <a:ext cx="3259804" cy="66704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4680"/>
              </a:lnSpc>
              <a:spcBef>
                <a:spcPts val="0"/>
              </a:spcBef>
              <a:spcAft>
                <a:spcPts val="2600"/>
              </a:spcAft>
            </a:pPr>
            <a:r>
              <a:rPr sz="3468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AutoSecAudit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13468" y="3813008"/>
            <a:ext cx="8169016" cy="42460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>
              <a:defRPr sz="2000" b="1">
                <a:solidFill>
                  <a:srgbClr val="E5E7EB"/>
                </a:solidFill>
                <a:latin typeface="Times New Roman"/>
              </a:defRPr>
            </a:pPr>
            <a:r>
              <a:t>A Multi-Tool Framework for Automated Security Auditing of Web Applications</a:t>
            </a:r>
          </a:p>
          <a:p>
            <a:pPr>
              <a:defRPr sz="1700" b="1">
                <a:solidFill>
                  <a:srgbClr val="7DE545"/>
                </a:solidFill>
                <a:latin typeface="Times New Roman"/>
              </a:defRPr>
            </a:pPr>
            <a:r>
              <a:t>(Phase 3 - Implementation &amp; Demonstration)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9831" y="5228526"/>
            <a:ext cx="1516697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dirty="0">
                <a:solidFill>
                  <a:srgbClr val="7DE545"/>
                </a:solidFill>
                <a:latin typeface="Roboto Flex"/>
              </a:rPr>
              <a:t>Submitted by: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831" y="5495040"/>
            <a:ext cx="398731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KODI VISHRUTH AITHAL</a:t>
            </a:r>
            <a:r>
              <a:rPr sz="1600" b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>
                <a:solidFill>
                  <a:srgbClr val="9CA3AF"/>
                </a:solidFill>
                <a:latin typeface="Roboto Flex"/>
              </a:rPr>
              <a:t>: 1DB23CS104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831" y="5723640"/>
            <a:ext cx="252658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THILAK N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1DB23CS22</a:t>
            </a:r>
            <a:r>
              <a:rPr lang="en-US" sz="1600" b="0" dirty="0">
                <a:solidFill>
                  <a:srgbClr val="9CA3AF"/>
                </a:solidFill>
                <a:latin typeface="Roboto Flex"/>
              </a:rPr>
              <a:t>9</a:t>
            </a:r>
            <a:endParaRPr sz="1600" b="0" dirty="0">
              <a:solidFill>
                <a:srgbClr val="9CA3AF"/>
              </a:solidFill>
              <a:latin typeface="Roboto Flex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9831" y="5952241"/>
            <a:ext cx="332283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VINAYA KUMAR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9831" y="6180841"/>
            <a:ext cx="338246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VISHAL GOWDA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5980" y="5280084"/>
            <a:ext cx="2382319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>
                <a:solidFill>
                  <a:srgbClr val="7DE545"/>
                </a:solidFill>
                <a:latin typeface="Roboto Flex"/>
              </a:rPr>
              <a:t>Under the guidance of: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5980" y="5552824"/>
            <a:ext cx="1379224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RANJITHA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5980" y="5851584"/>
            <a:ext cx="1915845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Assistant Professor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5980" y="6042085"/>
            <a:ext cx="128746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Dept of CSE</a:t>
            </a:r>
          </a:p>
        </p:txBody>
      </p:sp>
      <p:sp>
        <p:nvSpPr>
          <p:cNvPr id="26" name="TextBox 1"/>
          <p:cNvSpPr txBox="1"/>
          <p:nvPr/>
        </p:nvSpPr>
        <p:spPr>
          <a:xfrm>
            <a:off x="1008645" y="129309"/>
            <a:ext cx="101180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200" b="1" dirty="0">
                <a:solidFill>
                  <a:schemeClr val="bg1"/>
                </a:solidFill>
              </a:rPr>
              <a:t>Wayanamac Education Trust®</a:t>
            </a:r>
          </a:p>
          <a:p>
            <a:pPr algn="ctr"/>
            <a:r>
              <a:rPr lang="en-IN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DON BOSCO INSTITUTE OF TECHNOLOGY</a:t>
            </a:r>
          </a:p>
          <a:p>
            <a:pPr algn="ctr"/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Kumbalagodu, Mysuru Road, Bengaluru – 560074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(An Autonomous Institution under VTU, Accredited by NBA &amp; NAAC with ‘A’ Grade</a:t>
            </a:r>
            <a:b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Approved by AICTE, New Delhi, Recognized by Govt. of Karnataka)</a:t>
            </a:r>
          </a:p>
          <a:p>
            <a:pPr algn="ctr"/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www.dbit.co.in cse@dbit.co.in      </a:t>
            </a:r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Ph:</a:t>
            </a:r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+91-80-28437028 / 29 / 30 (Extn. 131)</a:t>
            </a:r>
          </a:p>
          <a:p>
            <a:pPr algn="ctr"/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920" b="99120" l="1019" r="97870"/>
                    </a14:imgEffect>
                    <a14:imgEffect>
                      <a14:saturation sat="13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07" y="155480"/>
            <a:ext cx="1641260" cy="1899606"/>
          </a:xfrm>
          <a:prstGeom prst="rect">
            <a:avLst/>
          </a:prstGeom>
          <a:noFill/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12777" y1="76111" x2="14395" y2="78241"/>
                        <a14:foregroundMark x1="24617" y1="8704" x2="24617" y2="8704"/>
                        <a14:foregroundMark x1="25724" y1="8704" x2="37649" y2="3056"/>
                        <a14:foregroundMark x1="24361" y1="8519" x2="6729" y2="25926"/>
                        <a14:foregroundMark x1="6985" y1="26389" x2="1704" y2="41204"/>
                        <a14:foregroundMark x1="1704" y1="43796" x2="1448" y2="56944"/>
                        <a14:foregroundMark x1="1704" y1="59167" x2="18399" y2="87685"/>
                        <a14:foregroundMark x1="20613" y1="89444" x2="40204" y2="2037"/>
                        <a14:foregroundMark x1="30494" y1="46111" x2="98467" y2="57870"/>
                        <a14:foregroundMark x1="98382" y1="57870" x2="20358" y2="88981"/>
                        <a14:foregroundMark x1="21295" y1="87222" x2="60988" y2="97130"/>
                        <a14:foregroundMark x1="60988" y1="97685" x2="22061" y2="90000"/>
                        <a14:foregroundMark x1="61414" y1="97407" x2="98126" y2="58796"/>
                        <a14:foregroundMark x1="65417" y1="96204" x2="84072" y2="84537"/>
                        <a14:foregroundMark x1="98126" y1="45093" x2="97019" y2="34537"/>
                        <a14:foregroundMark x1="43697" y1="2130" x2="56985" y2="2870"/>
                        <a14:foregroundMark x1="47189" y1="1204" x2="64480" y2="3056"/>
                        <a14:foregroundMark x1="65843" y1="3148" x2="86457" y2="16204"/>
                        <a14:foregroundMark x1="97785" y1="37222" x2="98978" y2="437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664" y="333167"/>
            <a:ext cx="1678639" cy="15442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Table of Contents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000" y="1050000"/>
            <a:ext cx="10592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0000" y="1200000"/>
            <a:ext cx="10112000" cy="5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01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Abstract &amp; Executive Summary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02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Introduction &amp; DevSecOps Context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03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Problem Statement &amp; Industry Pain Points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04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Objectives &amp; Implementation Matrix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05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Literature Survey &amp; Baseline Research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06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Workflow (4-Stage Pipeline &amp; Model Diagram)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07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Architecture (4 Functional Layers &amp; Design Diagram)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08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Languages &amp; Tools Used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09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Implementation (Discovery, 14 Scanners, Intelligence, Delta)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10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Website Scan Results &amp; Live UI Demonstration (Screenshots)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11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Experimental Results &amp; Performance Benchmarks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12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Verification Test Suite, Conclusion &amp; References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Abstract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6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6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6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Modern web development moves at high speed, but security testing is often left behind because conventional scanning tools are fragmented, noisy, and difficult for non-specialists to interpret.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AutoSecAudit unifies automated surface reconnaissance, 14 specialized scanner plugins, and a post-processing intelligence layer into a single automated pipeline.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The framework automatically discovers pages and APIs, eliminates duplicate alerts, assigns official risk scores (CVE/CVSS), and delivers actionable code patches directly to developers.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 native delta comparison engine tracks whether code updates resolved past vulnerabilities or introduced regressions across consecutive software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00000" y="105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50000" y="117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65% FASTER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Parallel Concurrency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Scan time cut from ~3 min to ~1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0000" y="290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50000" y="302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40% LESS NOISE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Smart Deduplication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Redundant alerts merged into single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475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50000" y="487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80 / 80 TESTS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Verified Quality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100% pass rate in automated test suite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Introduction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39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Web Application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3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Web applications and REST APIs power modern digital infrastructure across banking, healthcare, e-commerce, and enterprise portals.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Under continuous delivery workflows, software changes are published rapidly, increasing the likelihood of unnoticed security vulnerabilities reaching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39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DevSecOps Shift-Left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3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Security validation must be integrated directly into automated build steps rather than treated as an afterthought.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Developers need intuitive, automated tools that pinpoint exact vulnerabilities and provide clear guidance without requiring deep security expertise.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5150000"/>
            <a:ext cx="11000000" cy="13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5300000"/>
            <a:ext cx="105200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Core Vulnerability Vectors Tested: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SQL Injection, Cross-Site Scripting (XSS), Broken Authentication, Exposed Secret Files, CORS Misconfigurations, and Server Header Leaks.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Fragmented Tool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Engineers must manually operate multiple standalone utilities (port scanners, web analyzers, API testers).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Each tool outputs incompatible data formats (XML, raw text streams, unstructured logs) that require manual effort to parse.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Alert Fatigue &amp; Duplicate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Independent scanners frequently flag overlapping symptoms for a single root cause on the same endpoint.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Without cross-tool correlation, developers receive dozens of redundant alerts, making prioritization difficult.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Missing Compliance &amp; Fix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Raw scanner logs rarely provide standardized mapping to regulatory standards like OWASP Top 10 or PCI-DSS.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Tools flag vulnerabilities but fail to provide developers with actionable code patches to remediate the flaw.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Stateless Execution &amp; No Regression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Traditional scanners evaluate build targets in isolation with no historical memory.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Teams cannot automatically verify whether a code fix succeeded or if a new pull request introduced fresh vulnerabilities.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Objectives &amp; Implementation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078992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114800"/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Milestone Objective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Scope &amp; Real-World Purpose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Phase 3 Delivery 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1. Unified Framework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Orchestrate multi-tool security audits via one click/command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ThreadPoolExecutor ($k=8$)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2. Deep Vulnerability Detection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Test network, web, authentication, and API endpoints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14 Specialized Plugins Built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3. Automated Target Discovery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Map links, forms, parameters, and backend APIs automatically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BFS Crawler + OpenAPI Parser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4. Intelligent Finding Correlation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Merge duplicate alarms across multiple scanners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Correlator (-40% Alert Noise)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5. Live Threat Intelligence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Enrich findings with CVE details and official CVSS risk scores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NIST NVD &amp; CIRCL API Lookup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6. Compliance &amp; Remediation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Map issues to OWASP Top 10 and generate code fix patches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OWASP '21 + Code Solutions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7. Delta Regression Auditing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Track what was fixed, introduced, or persistent across scans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Delta Diff + CI/CD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460520"/>
              </p:ext>
            </p:extLst>
          </p:nvPr>
        </p:nvGraphicFramePr>
        <p:xfrm>
          <a:off x="609586" y="678973"/>
          <a:ext cx="10862745" cy="5856581"/>
        </p:xfrm>
        <a:graphic>
          <a:graphicData uri="http://schemas.openxmlformats.org/drawingml/2006/table">
            <a:tbl>
              <a:tblPr/>
              <a:tblGrid>
                <a:gridCol w="2172549"/>
                <a:gridCol w="2172549"/>
                <a:gridCol w="2172549"/>
                <a:gridCol w="2172549"/>
                <a:gridCol w="2172549"/>
              </a:tblGrid>
              <a:tr h="42148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&amp; Year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Contribution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Relevance to Project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Akinyemi</a:t>
                      </a:r>
                      <a:r>
                        <a:rPr lang="en-IN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Role of AI in Modern Cybersecurity Vulnerability Management Practices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and ML improve threat detection and automation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Highlights importance of automation in security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more on concepts than implementation details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Daniel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Systematic Review of AI-Driven Automated Software Vulnerability Detection Systems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vulnerability detection using ML techniques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Demonstrates intelligent detection potential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Review-based study without practical framework development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Sonawane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Practical Vulnerability Detection Using Wireshark, Nmap, Metasploit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Combines multiple security tools for testing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Supports multi-tool integration approach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Requires manual penetration testing knowledge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Seara et al. (2024)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Automation of System Security Vulnerabilities Detection Using Open-Source Software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scanning and report generation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Foundation for automated security scanning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support for advanced vulnerability analysis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Aumpansub et al. (2021)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Detecting Software Vulnerabilities Using Neural Networks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Neural network-based vulnerability detection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Shows automation improves detection accuracy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 depends on training dataset quality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Literature Survey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rPr dirty="0"/>
              <a:t>System Workflow: 4-Stage Automated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5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5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4-Stage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5320000" cy="32778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b="1" dirty="0">
                <a:solidFill>
                  <a:srgbClr val="7DE545"/>
                </a:solidFill>
                <a:latin typeface="Times New Roman"/>
              </a:rPr>
              <a:t>1. Target Discovery : 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BFS Web Crawler maps forms &amp; query </a:t>
            </a:r>
            <a:r>
              <a:rPr b="0" dirty="0" err="1">
                <a:solidFill>
                  <a:srgbClr val="FFFFFF"/>
                </a:solidFill>
                <a:latin typeface="Times New Roman"/>
              </a:rPr>
              <a:t>params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; </a:t>
            </a:r>
            <a:r>
              <a:rPr b="0" dirty="0" err="1">
                <a:solidFill>
                  <a:srgbClr val="FFFFFF"/>
                </a:solidFill>
                <a:latin typeface="Times New Roman"/>
              </a:rPr>
              <a:t>OpenAPI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 parser ingests Swagger REST routes.</a:t>
            </a:r>
          </a:p>
          <a:p>
            <a:pPr>
              <a:spcAft>
                <a:spcPts val="600"/>
              </a:spcAft>
            </a:pPr>
            <a:r>
              <a:rPr b="1" dirty="0">
                <a:solidFill>
                  <a:srgbClr val="7DE545"/>
                </a:solidFill>
                <a:latin typeface="Times New Roman"/>
              </a:rPr>
              <a:t>2. Concurrent Scanning : 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ThreadPoolExecutor runs 14 scanner plugins in parallel across 8 worker threads.</a:t>
            </a:r>
          </a:p>
          <a:p>
            <a:pPr>
              <a:spcAft>
                <a:spcPts val="600"/>
              </a:spcAft>
            </a:pPr>
            <a:r>
              <a:rPr b="1" dirty="0">
                <a:solidFill>
                  <a:srgbClr val="7DE545"/>
                </a:solidFill>
                <a:latin typeface="Times New Roman"/>
              </a:rPr>
              <a:t>3. Intelligence Processing : 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Compound deduplication (-40% noise), live NIST NVD CVSS scoring, and code fix generation.</a:t>
            </a:r>
          </a:p>
          <a:p>
            <a:pPr>
              <a:spcAft>
                <a:spcPts val="600"/>
              </a:spcAft>
            </a:pPr>
            <a:r>
              <a:rPr b="1" dirty="0">
                <a:solidFill>
                  <a:srgbClr val="7DE545"/>
                </a:solidFill>
                <a:latin typeface="Times New Roman"/>
              </a:rPr>
              <a:t>4. Delivery &amp; Enforcement : </a:t>
            </a:r>
            <a:r>
              <a:rPr b="0" dirty="0">
                <a:solidFill>
                  <a:srgbClr val="FFFFFF"/>
                </a:solidFill>
                <a:latin typeface="Times New Roman"/>
              </a:rPr>
              <a:t>Live SSE web dashboard, exportable PDF reports, and automated CI/CD build blocking (`--fail-on`).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00000" y="113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Proposed System Execution Flowchart</a:t>
            </a:r>
          </a:p>
        </p:txBody>
      </p:sp>
      <p:pic>
        <p:nvPicPr>
          <p:cNvPr id="8" name="Picture 7" descr="image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14" y="1470000"/>
            <a:ext cx="3874371" cy="47549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Architecture: 4 Functional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5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5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Decoupled Multi-Layer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5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Presentation Tier : </a:t>
            </a:r>
            <a:r>
              <a:rPr sz="1550" b="0" dirty="0">
                <a:solidFill>
                  <a:srgbClr val="FFFFFF"/>
                </a:solidFill>
                <a:latin typeface="Times New Roman"/>
              </a:rPr>
              <a:t>Flask web application, Server-Sent Events (SSE) progress bar, and interactive finding modals.</a:t>
            </a:r>
          </a:p>
          <a:p>
            <a:pPr>
              <a:spcAft>
                <a:spcPts val="6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Core Engine Tier : </a:t>
            </a:r>
            <a:r>
              <a:rPr sz="1550" b="0" dirty="0">
                <a:solidFill>
                  <a:srgbClr val="FFFFFF"/>
                </a:solidFill>
                <a:latin typeface="Times New Roman"/>
              </a:rPr>
              <a:t>ThreadPoolExecutor concurrency coordinator, BFS crawler, and baseline response cache.</a:t>
            </a:r>
          </a:p>
          <a:p>
            <a:pPr>
              <a:spcAft>
                <a:spcPts val="6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Scanner Subsystem : </a:t>
            </a:r>
            <a:r>
              <a:rPr sz="1550" b="0" dirty="0">
                <a:solidFill>
                  <a:srgbClr val="FFFFFF"/>
                </a:solidFill>
                <a:latin typeface="Times New Roman"/>
              </a:rPr>
              <a:t>14 modular plugins spanning infrastructure recon, web attacks, </a:t>
            </a:r>
            <a:r>
              <a:rPr sz="1550" b="0" dirty="0" err="1">
                <a:solidFill>
                  <a:srgbClr val="FFFFFF"/>
                </a:solidFill>
                <a:latin typeface="Times New Roman"/>
              </a:rPr>
              <a:t>auth</a:t>
            </a:r>
            <a:r>
              <a:rPr sz="1550" b="0" dirty="0">
                <a:solidFill>
                  <a:srgbClr val="FFFFFF"/>
                </a:solidFill>
                <a:latin typeface="Times New Roman"/>
              </a:rPr>
              <a:t>, and API exploits.</a:t>
            </a:r>
          </a:p>
          <a:p>
            <a:pPr>
              <a:spcAft>
                <a:spcPts val="6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Intelligence &amp; Data Tier : </a:t>
            </a:r>
            <a:r>
              <a:rPr sz="1550" b="0" dirty="0">
                <a:solidFill>
                  <a:srgbClr val="FFFFFF"/>
                </a:solidFill>
                <a:latin typeface="Times New Roman"/>
              </a:rPr>
              <a:t>Deduplication engine, live NIST CVE enricher, delta diffing, and SQLite user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00000" y="113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System Design &amp; Component Architecture</a:t>
            </a:r>
          </a:p>
        </p:txBody>
      </p:sp>
      <p:pic>
        <p:nvPicPr>
          <p:cNvPr id="8" name="Picture 7" descr="image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000" y="1410000"/>
            <a:ext cx="5040000" cy="49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Technology Stack &amp; Tools Used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Python 3.10+ (Core Runtime)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Primary programming language utilizing ThreadPoolExecutor concurrency, dataclasses, and modern type annotations.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14 Security Scanner Plugins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Comprehensive suite covering Nmap, Nikto, DirBrute, SQLi, XSS, CORS, SSRF, JWT, Auth, and SSTI.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290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305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Flask &amp; Real-Time 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347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Lightweight web application backend streaming real-time scan telemetry across 7 distinct execution stages.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290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0000" y="305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Live Threat APIs (NIST &amp; CIRCL)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347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Real-time integration with the US National Vulnerability Database and CIRCL for official CVE and CVSS ratings.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000" y="47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49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SQLite &amp; Enterprise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53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Password-hashed authentication (`users.db`), role-based access control, and persistent scan history archives.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000" y="47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40000" y="49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Docker &amp; CI/CD Gating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0000" y="53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Containerized deployment via Docker Compose with automated `--fail-on` CLI policy enforcement.</a:t>
            </a:r>
          </a:p>
        </p:txBody>
      </p:sp>
    </p:spTree>
    <p:extLst>
      <p:ext uri="{BB962C8B-B14F-4D97-AF65-F5344CB8AC3E}">
        <p14:creationId xmlns:p14="http://schemas.microsoft.com/office/powerpoint/2010/main" val="269374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Automatic Target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Dynamic BFS Web Crawler (`core/crawler.py`)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Operates like an automated search engine crawler, recursively exploring target web pages starting from the root URL.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Automatically isolates HTML `&lt;form&gt;` tags, text input boxes, search fields, hidden CSRF tokens, and HTTP methods (GET/POST).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Extracts parameter-bearing query strings (such as `?id=1&amp;search=test`) to supply targets directly to injection scanners.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Bounded exploration depth ($D_{\text{max}}=3$) and visited-URL tracking prevent infinite loops and external domain escaping.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OpenAPI / Swagger Ingestion (`core/openapi.py`)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Natively ingests OpenAPI 3.0 and Swagger 2.0 schema files in JSON or YAML formats.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Extracts all registered REST endpoints along with their supported HTTP methods (GET, POST, PUT, DELETE, PATCH).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Parses path parameters, query parameters, request body schemas, and authentication headers.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Seeds hidden backend API routes directly into specialized API Abuse, Auth, and SQL injection scanners without manual effort.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14 Specialized Scanner Plugins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Infrastructure &amp; Reconnaissance (3 Plugins)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NmapPlugin scans open network ports and detects running service versions via XML output parsing.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NiktoPlugin checks web servers for outdated software packages and dangerous default CGI 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DirBruteScanner bruteforces hidden sensitive files and directories using a curated 50-path high-value wordlist (such as exposed `/.git` folders and `/admin` portals).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Web Injection Scanners (4 Plugins)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SQLiScanner tests inputs for Error-based, Boolean-blind, and Time-delay SQL injection vulnerabilities.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XSSScanner checks for Reflected and DOM-based Cross-Site Scripting by evaluating payload reflection.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CORSScanner and MisconfigScanner detect wildcard origin leaks, credential exposure, and missing security headers (HSTS, CSP, X-Frame-Options).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API &amp; Authentication Scanners (3 Plugins)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AuthScanner checks for weak default credentials, bypassable login endpoints, and IDOR access risks.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JWTScanner analyzes authentication tokens for `alg: none` signature bypass, weak HMAC secrets, and expired token acceptance.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APIAbuseScanner audits REST endpoints for mass assignment vulnerabilities and excessive data exposure.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Advanced Exploit Vectors (4 Plugins)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CommandInjectionScanner probes for OS command execution using delimiter chaining (`|`, `;`, `&amp;&amp;`).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SSRFScanner tests for Server-Side Request Forgery targeting cloud metadata endpoints (`169.254.169.254`).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PathTraversalScanner and SSTIScanner detect unauthorized server file reading (`/etc/passwd`) and server template expression injection.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Post-Processing Intelligence Layer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Compound Deduplication (-40% Alert Noise)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Groups raw findings across tools using a compound tuple: &lt;host, port, endpoint, CWE ID&gt;. Overlapping scanner outputs for the same root cause are consolidated into a single confirmed finding, eliminating alert fatigue for developers.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290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000" y="305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Threat Scoring &amp; Standards Mapping (NIST &amp; OWASP)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000" y="347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Queries live NIST NVD and CIRCL endpoints to retrieve official CVSS v3.1 base scores and vulnerability descriptions. Automatically categorizes each finding against OWASP Top 10 (2021), MITRE CWE, and PCI-DSS v4.0 regulatory taxonomies.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475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490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Actionable Code Remediation Patches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532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Rather than providing generic warnings, the remediation engine generates concrete, copy-paste code snippets and configuration fixes tailored to the detected scanner finding so developers can resolve security issues immediately.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Set-Theoretic Delta Scan Auditing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3 Delta Partitions (`delta.py`)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1. NEW Vulnerabilities (Red)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Security flaws introduced in the latest code commit that were not present in previous baseline scans.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2. FIXED Vulnerabilities (Green)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Vulnerabilities present in past scans that were verified as successfully resolved by the new audit.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3. UNCHANGED Issues (Gray)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Pre-existing technical debt that remains open across consecutive software builds.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Deterministic SHA-256 fingerprinting ensures consistent tracking across build runs without requiring database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Real-World Engineering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Patch Verification: Mechanically proves to engineering managers and clients that committed bug fixes actually resolved target security vulnerabilities.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Zero-Regression Safety: Instantly alerts teams if a new software update accidentally re-introduced an old security flaw.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100% Classification Accuracy: Empirically verified across multi-build regressions on standard benchmark applications.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Lightweight Integration: JSON-based differential tracking integrates seamlessly into CI/CD pipelines without database setup overhead.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Web Dashboard &amp; Pipeline Gating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Interactive Flask Web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Server-Sent Events (SSE) stream live scan telemetry from background threads, displaying a real-time progress bar across 7 distinct stages (5% to 100%).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Interactive finding cards open rich detail modal popups with raw scanner evidence, CVSS risk ratings, and actionable code fixes.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Instant client-side filtering allows users to isolate findings by severity (Critical, High, Medium, Low) or specific scanner plugin.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SQLite-backed user authentication (`users.db`) with password hashing, persistent history archives, and dark/light theme toggle.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Automated DevSecOps Policy Gating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Command-line `--fail-on` flag enforces security thresholds (such as `--fail-on critical` or `--fail-on high`) directly in build scripts.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Returns deterministic non-zero exit codes to block vulnerable pull requests in GitHub Actions, GitLab CI, or Jenkins pipelines.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Prevents critical security vulnerabilities from being deployed to live production customer environments.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Dispatches automated webhook alerts with scan summaries directly to team Slack and Discord channels upon scan completion.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Website Scan Results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0000" y="11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Target Web Configuration &amp; Scan Launch</a:t>
            </a:r>
          </a:p>
        </p:txBody>
      </p:sp>
      <p:pic>
        <p:nvPicPr>
          <p:cNvPr id="5" name="Picture 4" descr="slide_12_shape_Picture 1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00" y="1410000"/>
            <a:ext cx="5240000" cy="216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00000" y="10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0000" y="11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Real-Time SSE Scan Progress &amp; Stage Telemetry</a:t>
            </a:r>
          </a:p>
        </p:txBody>
      </p:sp>
      <p:pic>
        <p:nvPicPr>
          <p:cNvPr id="8" name="Picture 7" descr="slide_12_shape_Picture 3_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000" y="1410000"/>
            <a:ext cx="5240000" cy="216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00000" y="38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0000" y="39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Interactive Vulnerability Finding &amp; Evidence Modal</a:t>
            </a:r>
          </a:p>
        </p:txBody>
      </p:sp>
      <p:pic>
        <p:nvPicPr>
          <p:cNvPr id="11" name="Picture 10" descr="slide_12_shape_Picture 2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00" y="4210000"/>
            <a:ext cx="5240000" cy="216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00000" y="38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000" y="39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Scan Summary Dashboard &amp; Delta Diff Verification</a:t>
            </a:r>
          </a:p>
        </p:txBody>
      </p:sp>
      <p:pic>
        <p:nvPicPr>
          <p:cNvPr id="14" name="Picture 13" descr="slide_12_shape_Picture 4_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000" y="4210000"/>
            <a:ext cx="524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Results &amp; Performance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54864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8288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Concurrency Mode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Scan Duration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Relative Speedup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 Worker (Sequential)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184.2 s (~3.1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1.00x (Baseline)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4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71.4 s (~1.2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2.58x Faster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8 Workers (Optimal)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64.8 s (~1.0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2.84x (65% Drop)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16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66.1 s (~1.1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Diminishing returns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0000" y="1050000"/>
          <a:ext cx="54864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8288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Vulnerability Class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Raw Tools Output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Correlated Output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SQL Injections (A03)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14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Unique (-43%)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XSS Injections (A03)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19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Unique (-37%)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Server Misconfigs (A05)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26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15 Unique (-42%)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Total (OWASP Juice Shop)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76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46 Clean (-40% Spam)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0000" y="3850000"/>
            <a:ext cx="55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000" y="4000000"/>
            <a:ext cx="50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Finding: Concurrency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000" y="4420000"/>
            <a:ext cx="50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8 worker threads deliver optimal performance, cutting scan latency by 64.8% (from 184.2s to 64.8s) while maintaining balanced 78.4% CPU utilization.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Beyond 8 threads, network socket contention yields diminishing returns.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0" y="3850000"/>
            <a:ext cx="55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0000" y="4000000"/>
            <a:ext cx="50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Finding: Noise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0000" y="4420000"/>
            <a:ext cx="50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Evaluated on OWASP Juice Shop, the framework achieved 97.8% precision (46 True Positives, 1 False Positive).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Compound deduplication eliminated 30 redundant warnings, reducing total alert clutter by 39.5%.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Verification &amp; Test Suite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014984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463040"/>
                <a:gridCol w="5303520"/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Subsystem Tested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Test Count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Verification Scope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Smart Web Crawler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Extracts forms, links, and search parameters correctly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Parallel Engine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Multi-threading, scanner lifecycle, error handling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14 Scanner Plugins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SQLi, XSS, CORS, SSRF, JWT, Auth, and DirBrute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Smart Intelligence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Deduplication, CVE scoring, and code fix generation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Delta Comparison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Accurately labels NEW, FIXED, and UNCHANGED bugs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Live Dashboard &amp; SSE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10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Real-time streaming progress, popups, and filter logic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User Auth &amp; CI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Password security, user logins, and `--fail-on` build blocker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Architecture &amp; Benchmark Visuals</a:t>
            </a:r>
          </a:p>
        </p:txBody>
      </p:sp>
      <p:pic>
        <p:nvPicPr>
          <p:cNvPr id="3" name="Picture 2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1064240" cy="2739890"/>
          </a:xfrm>
          <a:prstGeom prst="rect">
            <a:avLst/>
          </a:prstGeom>
        </p:spPr>
      </p:pic>
      <p:pic>
        <p:nvPicPr>
          <p:cNvPr id="4" name="Picture 3" descr="fig2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83280"/>
            <a:ext cx="3474720" cy="2033866"/>
          </a:xfrm>
          <a:prstGeom prst="rect">
            <a:avLst/>
          </a:prstGeom>
        </p:spPr>
      </p:pic>
      <p:pic>
        <p:nvPicPr>
          <p:cNvPr id="5" name="Picture 4" descr="fig3_noise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383280"/>
            <a:ext cx="3566160" cy="2175199"/>
          </a:xfrm>
          <a:prstGeom prst="rect">
            <a:avLst/>
          </a:prstGeom>
        </p:spPr>
      </p:pic>
      <p:pic>
        <p:nvPicPr>
          <p:cNvPr id="6" name="Picture 5" descr="fig4_delta_di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383280"/>
            <a:ext cx="3474720" cy="22184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Conclusion &amp; Project Deliverables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Unified Security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Successfully unified 14 specialized scanner plugins under an extensible concurrent orchestration engine.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Eliminated the need for manual tool execution by automating target discovery through web crawling and OpenAPI ingestion.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Measurable Performance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Achieved a 64.8% reduction in scan latency (2.84x speedup) via multi-threaded parallel execution.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Suppressed duplicate alert clutter by 39.5% with 97.8% precision on standard web security benchmarks.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Production &amp; DevSecOps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Delivered a live-streaming web dashboard with interactive finding modals, filtering, and PDF reporting.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Enabled automated CI/CD gating via the `--fail-on` CLI flag to mechanically block vulnerable pull requests.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Verified Codebase &amp; Research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Backed by 80 automated unit and integration tests passing with a 100% success rate in 13.68 seconds.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Complete open-source codebase, Docker setup, and full IEEE research paper available on GitHub.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11192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10712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Academic &amp; Industry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10712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[1] G. F. Lyon, Nmap Network Scanning: The Official Nmap Project Guide. Insecure.Com LLC, 2009.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[2] A. M. Akinyemi and S. Sims, “Role of AI in Cybersecurity Vulnerability Management,” WJARR, vol. 26, no. 1,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[3] V. T. Daniel et al., “A Systematic Review of Automated Vulnerability Detection,” IJCSMT, vol. 11, no. 12,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[4] D. Sonawane et al., “Practical Vulnerability Detection Using Nmap and Metasploit,” IJCRT, vol. 13, no. 12,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[5] J. P. Seara and C. Serrão, “Automation of System Security Vulnerabilities Detection,” Electronics, vol. 13, no. 5, 2024.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[6] OWASP Top 10 Team, “OWASP Top 10: The Ten Most Critical Web Application Security Risks,” 2021.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[7] PCI Security Standards Council, “Payment Card Industry Data Security Standard (PCI-DSS) v4.0,” 2022.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[8] NIST, “National Vulnerability Database (NVD) REST API v2.0 Specification,” 2023.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0000" y="1800000"/>
            <a:ext cx="6192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ource Code Pro"/>
              </a:defRPr>
            </a:pPr>
            <a:r>
              <a:t>THANK YOU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7DE545"/>
                </a:solidFill>
                <a:latin typeface="Times New Roman"/>
              </a:defRPr>
            </a:pPr>
            <a:r>
              <a:t>Questions &amp;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00000" y="3500000"/>
            <a:ext cx="6192000" cy="2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40000" y="3650000"/>
            <a:ext cx="5712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Project Details &amp; Team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4070000"/>
            <a:ext cx="5712000" cy="1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GitHub Repository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https://github.com/NEXUS-888/AutoSecAudit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Department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Computer Science &amp; Engineering, DBIT Bengaluru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Project Team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Kodi Vishruth Aithal | Thilak N | Vinaya Kumar B | Vishal Gowda B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Faculty Guide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Ms. Ranjitha R (Assistant Professor, Dept of CSE)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350</TotalTime>
  <Words>2973</Words>
  <Application>Microsoft Office PowerPoint</Application>
  <PresentationFormat>Widescreen</PresentationFormat>
  <Paragraphs>313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Calibri</vt:lpstr>
      <vt:lpstr>Roboto Flex</vt:lpstr>
      <vt:lpstr>Source Code Pro</vt:lpstr>
      <vt:lpstr>Times New Roman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Vishal</dc:creator>
  <cp:keywords/>
  <dc:description>generated using python-pptx</dc:description>
  <cp:lastModifiedBy>Microsoft account</cp:lastModifiedBy>
  <cp:revision>19</cp:revision>
  <dcterms:created xsi:type="dcterms:W3CDTF">2013-01-27T09:14:16Z</dcterms:created>
  <dcterms:modified xsi:type="dcterms:W3CDTF">2026-08-31T16:22:11Z</dcterms:modified>
  <cp:category/>
</cp:coreProperties>
</file>