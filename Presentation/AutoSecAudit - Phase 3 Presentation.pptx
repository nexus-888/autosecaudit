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7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1A48"/>
    <a:srgbClr val="77D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0C9E03-69DD-4ADE-9155-D71BD24778A3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FE908-A1CA-42A0-9134-954F132634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01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9426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660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17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50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09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76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6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995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7007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35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174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220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26171"/>
            <a:ext cx="12191695" cy="6831828"/>
          </a:xfrm>
          <a:prstGeom prst="rect">
            <a:avLst/>
          </a:prstGeom>
          <a:gradFill rotWithShape="1">
            <a:gsLst>
              <a:gs pos="0">
                <a:srgbClr val="2A1A48">
                  <a:alpha val="95000"/>
                </a:srgbClr>
              </a:gs>
              <a:gs pos="100000">
                <a:srgbClr val="2A1A48">
                  <a:alpha val="85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24867" y="2816091"/>
            <a:ext cx="3259804" cy="66704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4680"/>
              </a:lnSpc>
              <a:spcBef>
                <a:spcPts val="0"/>
              </a:spcBef>
              <a:spcAft>
                <a:spcPts val="2600"/>
              </a:spcAft>
            </a:pPr>
            <a:r>
              <a:rPr sz="3468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AutoSecAudit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13468" y="3813008"/>
            <a:ext cx="8169016" cy="42460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defRPr sz="2000" b="1">
                <a:solidFill>
                  <a:srgbClr val="E5E7EB"/>
                </a:solidFill>
                <a:latin typeface="Times New Roman"/>
              </a:defRPr>
            </a:pPr>
            <a:r>
              <a:t>A Multi-Tool Framework for Automated Security Auditing of Web Applications</a:t>
            </a:r>
          </a:p>
          <a:p>
            <a:pPr>
              <a:defRPr sz="1700" b="1">
                <a:solidFill>
                  <a:srgbClr val="7DE545"/>
                </a:solidFill>
                <a:latin typeface="Times New Roman"/>
              </a:defRPr>
            </a:pPr>
            <a:r>
              <a:t>(Phase 3 - Implementation &amp; Demonstration)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9831" y="5228526"/>
            <a:ext cx="1516697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 dirty="0">
                <a:solidFill>
                  <a:srgbClr val="7DE545"/>
                </a:solidFill>
                <a:latin typeface="Roboto Flex"/>
              </a:rPr>
              <a:t>Submitted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9831" y="5495040"/>
            <a:ext cx="3987310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Roboto Flex"/>
              </a:rPr>
              <a:t>KODI VISHRUTH AITHAL</a:t>
            </a:r>
            <a:r>
              <a:rPr sz="1600" b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>
                <a:solidFill>
                  <a:srgbClr val="9CA3AF"/>
                </a:solidFill>
                <a:latin typeface="Roboto Flex"/>
              </a:rPr>
              <a:t>: 1DB23CS104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79831" y="5723640"/>
            <a:ext cx="2526589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THILAK N</a:t>
            </a:r>
            <a:r>
              <a:rPr sz="1600" b="0" dirty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 dirty="0">
                <a:solidFill>
                  <a:srgbClr val="9CA3AF"/>
                </a:solidFill>
                <a:latin typeface="Roboto Flex"/>
              </a:rPr>
              <a:t>: 1DB23CS22</a:t>
            </a:r>
            <a:r>
              <a:rPr lang="en-US" sz="1600" b="0" dirty="0">
                <a:solidFill>
                  <a:srgbClr val="9CA3AF"/>
                </a:solidFill>
                <a:latin typeface="Roboto Flex"/>
              </a:rPr>
              <a:t>9</a:t>
            </a:r>
            <a:endParaRPr sz="1600" b="0" dirty="0">
              <a:solidFill>
                <a:srgbClr val="9CA3AF"/>
              </a:solidFill>
              <a:latin typeface="Roboto Flex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779831" y="5952241"/>
            <a:ext cx="3322833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VINAYA KUMAR B</a:t>
            </a:r>
            <a:r>
              <a:rPr sz="1600" b="0" dirty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 dirty="0">
                <a:solidFill>
                  <a:srgbClr val="9CA3AF"/>
                </a:solidFill>
                <a:latin typeface="Roboto Flex"/>
              </a:rPr>
              <a:t>: 1DB23CS244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79831" y="6180841"/>
            <a:ext cx="3382464" cy="31598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FFFFFF"/>
                </a:solidFill>
                <a:latin typeface="Roboto Flex"/>
              </a:rPr>
              <a:t>VISHAL GOWDA B</a:t>
            </a:r>
            <a:r>
              <a:rPr sz="1600" b="0" dirty="0">
                <a:solidFill>
                  <a:srgbClr val="D1D5DB"/>
                </a:solidFill>
                <a:latin typeface="Roboto Flex"/>
              </a:rPr>
              <a:t> </a:t>
            </a:r>
            <a:r>
              <a:rPr sz="1600" b="0" dirty="0">
                <a:solidFill>
                  <a:srgbClr val="9CA3AF"/>
                </a:solidFill>
                <a:latin typeface="Roboto Flex"/>
              </a:rPr>
              <a:t>: 1DB23CS246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5980" y="5280084"/>
            <a:ext cx="2382319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1600" b="1">
                <a:solidFill>
                  <a:srgbClr val="7DE545"/>
                </a:solidFill>
                <a:latin typeface="Roboto Flex"/>
              </a:rPr>
              <a:t>Under the guidance of: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5980" y="5552824"/>
            <a:ext cx="1379224" cy="34163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600" b="1">
                <a:solidFill>
                  <a:srgbClr val="FFFFFF"/>
                </a:solidFill>
                <a:latin typeface="Roboto Flex"/>
              </a:rPr>
              <a:t>RANJITHA 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5980" y="5851584"/>
            <a:ext cx="1915845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 Flex"/>
              </a:rPr>
              <a:t>Assistant Professor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5980" y="6042085"/>
            <a:ext cx="1287468" cy="277512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D1D5DB"/>
                </a:solidFill>
                <a:latin typeface="Roboto Flex"/>
              </a:rPr>
              <a:t>Dept of CSE</a:t>
            </a:r>
          </a:p>
        </p:txBody>
      </p:sp>
      <p:sp>
        <p:nvSpPr>
          <p:cNvPr id="26" name="TextBox 1"/>
          <p:cNvSpPr txBox="1"/>
          <p:nvPr/>
        </p:nvSpPr>
        <p:spPr>
          <a:xfrm>
            <a:off x="1008645" y="129309"/>
            <a:ext cx="101180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200" b="1" dirty="0">
                <a:solidFill>
                  <a:schemeClr val="bg1"/>
                </a:solidFill>
              </a:rPr>
              <a:t>Wayanamac Education Trust®</a:t>
            </a:r>
          </a:p>
          <a:p>
            <a:pPr algn="ctr"/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 BOSCO INSTITUTE OF TECHNOLOGY</a:t>
            </a:r>
          </a:p>
          <a:p>
            <a:pPr algn="ctr"/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Kumbalagodu, Mysuru Road, Bengaluru – 560074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(An Autonomous Institution under VTU, Accredited by NBA &amp; NAAC with ‘A’ Grade</a:t>
            </a:r>
            <a:b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Approved by AICTE, New Delhi, Recognized by Govt. of Karnataka)</a:t>
            </a:r>
          </a:p>
          <a:p>
            <a:pPr algn="ctr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&amp; Engineering</a:t>
            </a:r>
          </a:p>
          <a:p>
            <a:pPr algn="ctr"/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www.dbit.co.in cse@dbit.co.in      </a:t>
            </a:r>
            <a:r>
              <a:rPr lang="en-I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Ph: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+91-80-28437028 / 29 / 30 (Extn. 131)</a:t>
            </a:r>
          </a:p>
          <a:p>
            <a:pPr algn="ctr"/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920" b="99120" l="1019" r="97870"/>
                    </a14:imgEffect>
                    <a14:imgEffect>
                      <a14:saturation sat="1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07" y="155480"/>
            <a:ext cx="1641260" cy="1899606"/>
          </a:xfrm>
          <a:prstGeom prst="rect">
            <a:avLst/>
          </a:prstGeom>
          <a:noFill/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0" b="100000" l="0" r="100000">
                        <a14:foregroundMark x1="12777" y1="76111" x2="14395" y2="78241"/>
                        <a14:foregroundMark x1="24617" y1="8704" x2="24617" y2="8704"/>
                        <a14:foregroundMark x1="25724" y1="8704" x2="37649" y2="3056"/>
                        <a14:foregroundMark x1="24361" y1="8519" x2="6729" y2="25926"/>
                        <a14:foregroundMark x1="6985" y1="26389" x2="1704" y2="41204"/>
                        <a14:foregroundMark x1="1704" y1="43796" x2="1448" y2="56944"/>
                        <a14:foregroundMark x1="1704" y1="59167" x2="18399" y2="87685"/>
                        <a14:foregroundMark x1="20613" y1="89444" x2="40204" y2="2037"/>
                        <a14:foregroundMark x1="30494" y1="46111" x2="98467" y2="57870"/>
                        <a14:foregroundMark x1="98382" y1="57870" x2="20358" y2="88981"/>
                        <a14:foregroundMark x1="21295" y1="87222" x2="60988" y2="97130"/>
                        <a14:foregroundMark x1="60988" y1="97685" x2="22061" y2="90000"/>
                        <a14:foregroundMark x1="61414" y1="97407" x2="98126" y2="58796"/>
                        <a14:foregroundMark x1="65417" y1="96204" x2="84072" y2="84537"/>
                        <a14:foregroundMark x1="98126" y1="45093" x2="97019" y2="34537"/>
                        <a14:foregroundMark x1="43697" y1="2130" x2="56985" y2="2870"/>
                        <a14:foregroundMark x1="47189" y1="1204" x2="64480" y2="3056"/>
                        <a14:foregroundMark x1="65843" y1="3148" x2="86457" y2="16204"/>
                        <a14:foregroundMark x1="97785" y1="37222" x2="98978" y2="437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2664" y="333167"/>
            <a:ext cx="1678639" cy="154423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051560"/>
            <a:ext cx="9144000" cy="5303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01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Abstract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02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Introduction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03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Problem Statement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04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Objectives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05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Literature Survey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06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Proposed Model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07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System Design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08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Languages &amp; Tools Used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09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Implementation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10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Results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11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Conclusion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7DE545"/>
                </a:solidFill>
                <a:latin typeface="Source Code Pro"/>
              </a:rPr>
              <a:t>12   </a:t>
            </a:r>
            <a:r>
              <a:rPr sz="1800" b="1">
                <a:solidFill>
                  <a:srgbClr val="FFFFFF"/>
                </a:solidFill>
                <a:latin typeface="Times New Roman"/>
              </a:rPr>
              <a:t>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150000"/>
            <a:ext cx="10600000" cy="41445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Core Challenge: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Modern web applications require fast, comprehensive security vetting before release, but current scanners operate in silos, run sequentially, and inundate developers with duplicate alerts.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AutoSecAudit Solution: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An extensible Python auditing framework that unifies target reconnaissance, automated crawling, and 14 concurrent scanner plugins under a single automated execution pipeline.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Demonstrated Concurrency Speedup: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Multi-threaded worker pools (k=8) cut end-to-end scan duration by 64.8% (from 184.2s to 64.8s, delivering a 2.84× speedup) without losing test fidelity.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Intelligent Alert Deduplication: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Post-processing pipeline groups findings by &lt;host, port, endpoint, CWE&gt;, eliminating 38.2% duplicate noise with 97.9% precision on benchmark applications (OWASP Juice Shop).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 err="1">
                <a:solidFill>
                  <a:srgbClr val="FFFFFF"/>
                </a:solidFill>
                <a:latin typeface="Times New Roman"/>
              </a:rPr>
              <a:t>Stateful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 Patch Verification: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Introduces set-theoretic delta diffing (NEW, FIXED, UNCHANGED) to verify committed bug patches across software builds, validated by an 80/80 automated test suite passing in 13.68 seconds.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100000"/>
            <a:ext cx="10600000" cy="5018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Ubiquity of Web Systems: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Modern banking, healthcare, government, and e-commerce services operate entirely on web applications and interconnected REST APIs.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The Need to Shift Security Left: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Fast release cycles require automated security testing integrated directly into developers' daily workflow rather than treated as a distant afterthought.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Making Auditing Practical &amp; Accessible: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AutoSecAudit removes complex command-line hurdles, turning multi-tool audits into a one-click process that outputs direct code patches developers can apply immediately.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Audited Threat Categories: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Evaluates four high-risk exposure surfaces across any web application:</a:t>
            </a:r>
          </a:p>
          <a:p>
            <a:pPr algn="just">
              <a:lnSpc>
                <a:spcPct val="142000"/>
              </a:lnSpc>
              <a:spcAft>
                <a:spcPts val="700"/>
              </a:spcAft>
            </a:pPr>
            <a:r>
              <a:rPr sz="1450" b="1" dirty="0">
                <a:solidFill>
                  <a:srgbClr val="9CA3AF"/>
                </a:solidFill>
                <a:latin typeface="Times New Roman"/>
              </a:rPr>
              <a:t>      –  </a:t>
            </a:r>
            <a:r>
              <a:rPr sz="1450" b="1" dirty="0">
                <a:solidFill>
                  <a:srgbClr val="FFFFFF"/>
                </a:solidFill>
                <a:latin typeface="Times New Roman"/>
              </a:rPr>
              <a:t>Web Injections: 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SQL Injection (</a:t>
            </a:r>
            <a:r>
              <a:rPr sz="1450" b="0" dirty="0" err="1">
                <a:solidFill>
                  <a:srgbClr val="D1D5DB"/>
                </a:solidFill>
                <a:latin typeface="Times New Roman"/>
              </a:rPr>
              <a:t>SQLi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), OS Command Injection, and Server-Side Template Injection (SSTI).</a:t>
            </a:r>
          </a:p>
          <a:p>
            <a:pPr algn="just">
              <a:lnSpc>
                <a:spcPct val="142000"/>
              </a:lnSpc>
              <a:spcAft>
                <a:spcPts val="700"/>
              </a:spcAft>
            </a:pPr>
            <a:r>
              <a:rPr sz="1450" b="1" dirty="0">
                <a:solidFill>
                  <a:srgbClr val="9CA3AF"/>
                </a:solidFill>
                <a:latin typeface="Times New Roman"/>
              </a:rPr>
              <a:t>      –  </a:t>
            </a:r>
            <a:r>
              <a:rPr sz="1450" b="1" dirty="0">
                <a:solidFill>
                  <a:srgbClr val="FFFFFF"/>
                </a:solidFill>
                <a:latin typeface="Times New Roman"/>
              </a:rPr>
              <a:t>Client-Side &amp; Header Flaws: 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Reflected Cross-Site Scripting (XSS), CORS wildcard leaks, and missing defensive HTTP headers.</a:t>
            </a:r>
          </a:p>
          <a:p>
            <a:pPr algn="just">
              <a:lnSpc>
                <a:spcPct val="142000"/>
              </a:lnSpc>
              <a:spcAft>
                <a:spcPts val="700"/>
              </a:spcAft>
            </a:pPr>
            <a:r>
              <a:rPr sz="1450" b="1" dirty="0">
                <a:solidFill>
                  <a:srgbClr val="9CA3AF"/>
                </a:solidFill>
                <a:latin typeface="Times New Roman"/>
              </a:rPr>
              <a:t>      –  </a:t>
            </a:r>
            <a:r>
              <a:rPr sz="1450" b="1" dirty="0">
                <a:solidFill>
                  <a:srgbClr val="FFFFFF"/>
                </a:solidFill>
                <a:latin typeface="Times New Roman"/>
              </a:rPr>
              <a:t>API &amp; Authentication Exploits: 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Broken authentication, JWT signature bypass (`</a:t>
            </a:r>
            <a:r>
              <a:rPr sz="1450" b="0" dirty="0" err="1">
                <a:solidFill>
                  <a:srgbClr val="D1D5DB"/>
                </a:solidFill>
                <a:latin typeface="Times New Roman"/>
              </a:rPr>
              <a:t>alg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: none`), and Insecure Direct Object References (IDOR).</a:t>
            </a:r>
          </a:p>
          <a:p>
            <a:pPr algn="just">
              <a:lnSpc>
                <a:spcPct val="142000"/>
              </a:lnSpc>
              <a:spcAft>
                <a:spcPts val="700"/>
              </a:spcAft>
            </a:pPr>
            <a:r>
              <a:rPr sz="1450" b="1" dirty="0">
                <a:solidFill>
                  <a:srgbClr val="9CA3AF"/>
                </a:solidFill>
                <a:latin typeface="Times New Roman"/>
              </a:rPr>
              <a:t>      –  </a:t>
            </a:r>
            <a:r>
              <a:rPr sz="1450" b="1" dirty="0">
                <a:solidFill>
                  <a:srgbClr val="FFFFFF"/>
                </a:solidFill>
                <a:latin typeface="Times New Roman"/>
              </a:rPr>
              <a:t>Server &amp; Cloud Exposure: 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Server-Side Request Forgery (SSRF) probing cloud metadata (`169.254.169.254`) and exposed sensitive files (`.</a:t>
            </a:r>
            <a:r>
              <a:rPr sz="1450" b="0" dirty="0" err="1">
                <a:solidFill>
                  <a:srgbClr val="D1D5DB"/>
                </a:solidFill>
                <a:latin typeface="Times New Roman"/>
              </a:rPr>
              <a:t>git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`, `/admin`).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100000"/>
            <a:ext cx="10600000" cy="4247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The Velocity Bottleneck: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Developers deploy code multiple times daily; manual security reviews take 2 to 3 weeks, forcing teams to either stall releases or deploy blind.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The Alert Tsunami: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Standalone scanners flood developers with 100+ disjointed alarms; over 38% are duplicate warnings that drown out real threats.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The Missing Patch: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Existing tools merely flag theoretical flaws (like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SQLi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 or XSS) without giving developers actionable, copy-paste code patches to fix them.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The Regression </a:t>
            </a:r>
            <a:r>
              <a:rPr sz="1600" b="1" dirty="0" err="1">
                <a:solidFill>
                  <a:srgbClr val="FFFFFF"/>
                </a:solidFill>
                <a:latin typeface="Times New Roman"/>
              </a:rPr>
              <a:t>Blindspot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Stateless scanners retain zero memory between builds, allowing previously fixed bugs to silently reappear in subsequent commits.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The Real-World Fallout: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Overlooked flaws cost an average of $4.45M per breach (IBM 2024), risking massive data theft, regulatory penalties, and reputational collapse.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100000"/>
            <a:ext cx="10600000" cy="42471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Automated Attack Surface Discovery: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Eliminate manual target setup by automatically mapping web links, forms, parameters, and REST API routes via BFS crawling and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OpenAPI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 3.0 schema parsing.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Unified Multi-Scanner Concurrency: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Coordinate 14 specialized scanner plugins in parallel across 8 worker threads, reducing audit duration by 64.8% (from 184s down to 65s).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Intelligent Noise Reduction &amp; Scoring: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Group overlapping tool alarms by compound tuple &lt;host, port, endpoint, CWE ID&gt;, suppressing 38.2% duplicate noise and enriching with live NIST CVSS ratings.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Actionable Code Remediation Patches: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Bridge the gap between finding bugs and fixing them by generating copy-paste remediation code snippets and secure configuration templates.</a:t>
            </a:r>
          </a:p>
          <a:p>
            <a:pPr algn="just">
              <a:lnSpc>
                <a:spcPct val="145000"/>
              </a:lnSpc>
              <a:spcAft>
                <a:spcPts val="14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Continuous DevSecOps &amp; Delta Gating: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Track vulnerability state transitions (NEW, FIXED, UNCHANGED) across builds and automatically enforce security quality gates in CI/CD pipelines via CLI --fail-on.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460520"/>
              </p:ext>
            </p:extLst>
          </p:nvPr>
        </p:nvGraphicFramePr>
        <p:xfrm>
          <a:off x="609586" y="678973"/>
          <a:ext cx="10862745" cy="5856581"/>
        </p:xfrm>
        <a:graphic>
          <a:graphicData uri="http://schemas.openxmlformats.org/drawingml/2006/table">
            <a:tbl>
              <a:tblPr/>
              <a:tblGrid>
                <a:gridCol w="2172549"/>
                <a:gridCol w="2172549"/>
                <a:gridCol w="2172549"/>
                <a:gridCol w="2172549"/>
                <a:gridCol w="2172549"/>
              </a:tblGrid>
              <a:tr h="421482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 to Project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rgbClr val="77D84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630">
                <a:tc>
                  <a:txBody>
                    <a:bodyPr/>
                    <a:lstStyle/>
                    <a:p>
                      <a:r>
                        <a:rPr lang="en-IN" sz="1600" dirty="0" err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Akinyemi</a:t>
                      </a:r>
                      <a:r>
                        <a:rPr lang="en-IN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(2025)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of AI in Modern Cybersecurity Vulnerability Management Practices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and ML improve threat detection and automation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importance of automation in security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more on concepts than implementation details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630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Daniel et al. (2025)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Systematic Review of AI-Driven Automated Software Vulnerability Detection Systems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vulnerability detection using ML techniques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Demonstrates intelligent detection potential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Review-based study without practical framework development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593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Sonawane et al. (2025)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Practical Vulnerability Detection Using Wireshark, Nmap, Metasploit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multiple security tools for testing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multi-tool integration approach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manual penetration testing knowledge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9630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Seara et al. (2024)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Automation of System Security Vulnerabilities Detection Using Open-Source Software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scanning and report generation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Foundation for automated security scanning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support for advanced vulnerability analysis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7593"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Aumpansub et al. (2021)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Detecting Software Vulnerabilities Using Neural Networks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Neural network-based vulnerability detection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automation improves detection accuracy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 depends on training dataset quality</a:t>
                      </a:r>
                    </a:p>
                  </a:txBody>
                  <a:tcPr marL="43255" marR="43255" marT="21628" marB="21628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Literature Survey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Proposed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50000"/>
            <a:ext cx="5600000" cy="4820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Stage 1 — Automated Discovery: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BFS crawler maps links, query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params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and HTML forms;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OpenAPI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 parser registers backend REST endpoints from Swagger specs.</a:t>
            </a:r>
          </a:p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Stage 2 — Concurrent Scanning: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14 scanner plugins execute in parallel across 8 worker threads, cutting audit time from 3.1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mins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 to 1.0 min.</a:t>
            </a:r>
          </a:p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Stage 3 — Post-Processing Intelligence: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Consolidates duplicate alerts (-38.2% noise), queries live NIST NVD for CVSS scores, and writes copy-paste code patches.</a:t>
            </a:r>
          </a:p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Stage 4 — DevSecOps Pipeline Gating: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Streams real-time progress via SSE to the web dashboard and automatically blocks vulnerable CI/CD pull requests via `--fail-on`.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000" y="1050000"/>
            <a:ext cx="5200000" cy="54000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636" y="1228008"/>
            <a:ext cx="4850728" cy="50439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50000"/>
            <a:ext cx="5600000" cy="37902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Presentation &amp; Telemetry Layer: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Flask web dashboard with Server-Sent Events (SSE) streaming live progress across 7 stages, plus modal finding popups.</a:t>
            </a:r>
          </a:p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Core Concurrency Engine: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ThreadPoolExecutor coordinating 8 workers with an automated baseline HTTP response cache.</a:t>
            </a:r>
          </a:p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</a:t>
            </a:r>
            <a:r>
              <a:rPr sz="1600" b="1" dirty="0" smtClean="0">
                <a:solidFill>
                  <a:srgbClr val="FFFFFF"/>
                </a:solidFill>
                <a:latin typeface="Times New Roman"/>
              </a:rPr>
              <a:t>14-Plugin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Subsystem: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Extensible `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BaseScanner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` plugins covering network, web, login, and exploit vectors.</a:t>
            </a:r>
          </a:p>
          <a:p>
            <a:pPr algn="just">
              <a:lnSpc>
                <a:spcPct val="145000"/>
              </a:lnSpc>
              <a:spcAft>
                <a:spcPts val="15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Intelligence &amp; Storage Layer: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Compound finding deduplication, live NIST CVE enricher, delta diffing, and SQLite user database.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82109" y="980007"/>
            <a:ext cx="5200000" cy="5539336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500" y="1149350"/>
            <a:ext cx="4953000" cy="5200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Languages &amp; 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100000"/>
            <a:ext cx="10600000" cy="38769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Core Runtime &amp; Libraries: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Python 3.10+ utilizing ThreadPoolExecutor,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dataclasses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and concurrent task queues.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Web Framework &amp; Telemetry: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Flask backend with Server-Sent Events (SSE) streaming real-time progress across 7 stages.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14 Security Scanners: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Nmap, Nikto,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DirBrute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SQLi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XSS, CORS,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Misconfig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Auth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JWT,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APIAbuse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SSRF,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CmdInj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, Traversal, SSTI.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Threat Intelligence APIs: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Live integration with US NIST NVD REST API v2.0 and CIRCL for official CVE and CVSS ratings.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Compliance Taxonomies: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Automated mapping to OWASP Top 10 (2021), MITRE CWE, and PCI-DSS v4.0.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Storage &amp; Authentication: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SQLite (`data/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users.db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`) with PBKDF2 password hashing and role-based session controls.</a:t>
            </a:r>
          </a:p>
          <a:p>
            <a:pPr algn="just">
              <a:lnSpc>
                <a:spcPct val="142000"/>
              </a:lnSpc>
              <a:spcAft>
                <a:spcPts val="10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Deployment &amp; DevSecOps: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Docker Compose for containerized deployment; CLI `--fail-on` flag for CI/CD build blocking.</a:t>
            </a:r>
          </a:p>
        </p:txBody>
      </p:sp>
    </p:spTree>
    <p:extLst>
      <p:ext uri="{BB962C8B-B14F-4D97-AF65-F5344CB8AC3E}">
        <p14:creationId xmlns:p14="http://schemas.microsoft.com/office/powerpoint/2010/main" val="2693741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Implementation - Attack Surface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00000"/>
            <a:ext cx="5600000" cy="4726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Dynamic BFS Web Crawler: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Recursively explores target web pages starting from the root URL up to bounded depth (maximum depth = 3).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Form &amp; Input Extraction: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Automatically parses HTML &lt;form&gt; tags, input fields, search parameters, CSRF tokens, and query strings (?id=1).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 err="1">
                <a:solidFill>
                  <a:srgbClr val="FFFFFF"/>
                </a:solidFill>
                <a:latin typeface="Times New Roman"/>
              </a:rPr>
              <a:t>OpenAPI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 / Swagger Ingestion: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Natively parses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OpenAPI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3.0 and Swagger 2.0 schema files in JSON and YAML formats.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Hidden Route Discovery: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Extracts backend REST routes, HTTP verbs (GET, POST, PUT, DELETE), path variables, and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auth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headers.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Unified Scanner Feed: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Directly populates the scanner target queue with confirmed injection points.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64827" y="1100000"/>
            <a:ext cx="5200000" cy="54000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gram_discover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495" y="1243294"/>
            <a:ext cx="4920664" cy="51167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Implementation - 14 Scanner Plugins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00000"/>
            <a:ext cx="5600000" cy="54178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Infrastructure &amp; Reconnaissance: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Nmap scans open ports; Nikto checks server misconfigurations;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DirBrute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probes 50 sensitive paths (.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git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, /admin).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Web Injection Scanners: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SQLi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tests error/blind/time injections; XSS evaluates reflected script payloads; CORS flags wildcard origin leaks.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API &amp; Authentication Scanners: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AuthScanner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checks login forms and IDOR;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JWTScanner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tests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alg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: none bypass;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APIAbuse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checks mass assignment.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Advanced Exploit Vectors: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CommandInjection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probes OS command chaining; SSRF targets cloud metadata (169.254.169.254); 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PathTraversal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 checks /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etc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/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passwd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Concurrent Orchestration: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All 14 plugins run in parallel across 8 worker threads, maximizing audit speed.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000" y="1050000"/>
            <a:ext cx="5200000" cy="546783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gram_plugin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2039" y="1206630"/>
            <a:ext cx="4955922" cy="51533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Implementation - Post-Processing 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00000"/>
            <a:ext cx="5600000" cy="47261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</a:t>
            </a:r>
            <a:r>
              <a:rPr sz="1550" b="1" dirty="0" smtClean="0">
                <a:solidFill>
                  <a:srgbClr val="FFFFFF"/>
                </a:solidFill>
                <a:latin typeface="Times New Roman"/>
              </a:rPr>
              <a:t>Compound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Finding Deduplication: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Groups raw findings by compound tuple: &lt;host, port, endpoint, CWE ID&gt; to eliminate overlapping tool warnings.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Noise Reduction Impact: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Reduces raw alert volume by 38.2% (76 down to 47), eliminating alert fatigue while maintaining 97.9% precision.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Live Threat Scoring: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Queries live NIST NVD REST API v2.0 and CIRCL endpoints for official CVSS v3.1 base risk ratings.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 smtClean="0">
                <a:solidFill>
                  <a:srgbClr val="7DE545"/>
                </a:solidFill>
                <a:latin typeface="Times New Roman"/>
              </a:rPr>
              <a:t>•</a:t>
            </a:r>
            <a:r>
              <a:rPr lang="en-US" sz="1550" b="1" dirty="0" smtClean="0">
                <a:solidFill>
                  <a:srgbClr val="7DE545"/>
                </a:solidFill>
                <a:latin typeface="Times New Roman"/>
              </a:rPr>
              <a:t> </a:t>
            </a:r>
            <a:r>
              <a:rPr sz="1550" b="1" dirty="0" smtClean="0">
                <a:solidFill>
                  <a:srgbClr val="FFFFFF"/>
                </a:solidFill>
                <a:latin typeface="Times New Roman"/>
              </a:rPr>
              <a:t>Compliance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Taxonomy Mapping: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Maps all confirmed vulnerabilities to OWASP Top 10 (2021) and MITRE CWE categories.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Actionable Remediation Patches: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Generates copy-paste code snippets and secure configuration patches for instant fixing.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000" y="1050000"/>
            <a:ext cx="5200000" cy="54000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gram_intelligenc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774" y="1187108"/>
            <a:ext cx="4911237" cy="51069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Implementation - Set-Theoretic Delta Scan Auditing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968025"/>
            <a:ext cx="5600000" cy="57452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 err="1">
                <a:solidFill>
                  <a:srgbClr val="FFFFFF"/>
                </a:solidFill>
                <a:latin typeface="Times New Roman"/>
              </a:rPr>
              <a:t>Stateful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 Regression Auditing: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Compares current scan (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S_current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) against previous baseline (</a:t>
            </a:r>
            <a:r>
              <a:rPr sz="1550" b="0" dirty="0" err="1">
                <a:solidFill>
                  <a:srgbClr val="D1D5DB"/>
                </a:solidFill>
                <a:latin typeface="Times New Roman"/>
              </a:rPr>
              <a:t>S_previous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) using deterministic SHA-256 fingerprinting.</a:t>
            </a:r>
          </a:p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3 Concrete Delta Partitions: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Classifies every vulnerability into three operational states:</a:t>
            </a:r>
          </a:p>
          <a:p>
            <a:pPr algn="just">
              <a:lnSpc>
                <a:spcPct val="145000"/>
              </a:lnSpc>
              <a:spcAft>
                <a:spcPts val="800"/>
              </a:spcAft>
            </a:pPr>
            <a:r>
              <a:rPr sz="1450" b="1" dirty="0">
                <a:solidFill>
                  <a:srgbClr val="9CA3AF"/>
                </a:solidFill>
                <a:latin typeface="Times New Roman"/>
              </a:rPr>
              <a:t>      –  </a:t>
            </a:r>
            <a:r>
              <a:rPr sz="1450" b="1" dirty="0">
                <a:solidFill>
                  <a:srgbClr val="FFFFFF"/>
                </a:solidFill>
                <a:latin typeface="Times New Roman"/>
              </a:rPr>
              <a:t>NEW Vulnerabilities (Red): 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Flaws introduced in the latest code commit that were absent in the baseline.</a:t>
            </a:r>
          </a:p>
          <a:p>
            <a:pPr algn="just">
              <a:lnSpc>
                <a:spcPct val="145000"/>
              </a:lnSpc>
              <a:spcAft>
                <a:spcPts val="800"/>
              </a:spcAft>
            </a:pPr>
            <a:r>
              <a:rPr sz="1450" b="1" dirty="0">
                <a:solidFill>
                  <a:srgbClr val="9CA3AF"/>
                </a:solidFill>
                <a:latin typeface="Times New Roman"/>
              </a:rPr>
              <a:t>      –  </a:t>
            </a:r>
            <a:r>
              <a:rPr sz="1450" b="1" dirty="0">
                <a:solidFill>
                  <a:srgbClr val="FFFFFF"/>
                </a:solidFill>
                <a:latin typeface="Times New Roman"/>
              </a:rPr>
              <a:t>FIXED Vulnerabilities (Green): 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Vulnerabilities verified as successfully resolved by the software update.</a:t>
            </a:r>
          </a:p>
          <a:p>
            <a:pPr algn="just">
              <a:lnSpc>
                <a:spcPct val="145000"/>
              </a:lnSpc>
              <a:spcAft>
                <a:spcPts val="800"/>
              </a:spcAft>
            </a:pPr>
            <a:r>
              <a:rPr sz="1450" b="1" dirty="0">
                <a:solidFill>
                  <a:srgbClr val="9CA3AF"/>
                </a:solidFill>
                <a:latin typeface="Times New Roman"/>
              </a:rPr>
              <a:t>      –  </a:t>
            </a:r>
            <a:r>
              <a:rPr sz="1450" b="1" dirty="0">
                <a:solidFill>
                  <a:srgbClr val="FFFFFF"/>
                </a:solidFill>
                <a:latin typeface="Times New Roman"/>
              </a:rPr>
              <a:t>UNCHANGED Issues (Gray): </a:t>
            </a:r>
            <a:r>
              <a:rPr sz="1450" b="0" dirty="0">
                <a:solidFill>
                  <a:srgbClr val="D1D5DB"/>
                </a:solidFill>
                <a:latin typeface="Times New Roman"/>
              </a:rPr>
              <a:t>Persistent technical debt carried forward across software releases.</a:t>
            </a:r>
          </a:p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Patch Verification: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Mechanically proves that committed bug fixes actually resolved the target vulnerability.</a:t>
            </a:r>
          </a:p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Zero-Regression Safety: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Immediately alerts teams if a release accidentally resurrects an old security flaw.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000" y="1050000"/>
            <a:ext cx="5200000" cy="54000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gram_delta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236" y="1201596"/>
            <a:ext cx="4901528" cy="50968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Implementation - Web Dashboard &amp; CI/CD Pipeline Gating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00000"/>
            <a:ext cx="5600000" cy="5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5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>
                <a:solidFill>
                  <a:srgbClr val="FFFFFF"/>
                </a:solidFill>
                <a:latin typeface="Times New Roman"/>
              </a:rPr>
              <a:t>Live Telemetry Streaming: </a:t>
            </a:r>
            <a:r>
              <a:rPr sz="1550" b="0">
                <a:solidFill>
                  <a:srgbClr val="D1D5DB"/>
                </a:solidFill>
                <a:latin typeface="Times New Roman"/>
              </a:rPr>
              <a:t>Server-Sent Events (SSE) stream background progress across 7 distinct execution stages (5% to 100%).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5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>
                <a:solidFill>
                  <a:srgbClr val="FFFFFF"/>
                </a:solidFill>
                <a:latin typeface="Times New Roman"/>
              </a:rPr>
              <a:t>Interactive Finding Modals: </a:t>
            </a:r>
            <a:r>
              <a:rPr sz="1550" b="0">
                <a:solidFill>
                  <a:srgbClr val="D1D5DB"/>
                </a:solidFill>
                <a:latin typeface="Times New Roman"/>
              </a:rPr>
              <a:t>Clicking any finding card opens a detail modal with raw exploit evidence and copy-paste code patches.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5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>
                <a:solidFill>
                  <a:srgbClr val="FFFFFF"/>
                </a:solidFill>
                <a:latin typeface="Times New Roman"/>
              </a:rPr>
              <a:t>Multi-Criteria Filtering: </a:t>
            </a:r>
            <a:r>
              <a:rPr sz="1550" b="0">
                <a:solidFill>
                  <a:srgbClr val="D1D5DB"/>
                </a:solidFill>
                <a:latin typeface="Times New Roman"/>
              </a:rPr>
              <a:t>Filter findings instantly by severity (Critical, High, Medium, Low) and specific scanner plugin.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5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>
                <a:solidFill>
                  <a:srgbClr val="FFFFFF"/>
                </a:solidFill>
                <a:latin typeface="Times New Roman"/>
              </a:rPr>
              <a:t>Automated Build Blocking: </a:t>
            </a:r>
            <a:r>
              <a:rPr sz="1550" b="0">
                <a:solidFill>
                  <a:srgbClr val="D1D5DB"/>
                </a:solidFill>
                <a:latin typeface="Times New Roman"/>
              </a:rPr>
              <a:t>CLI --fail-on flag returns non-zero exit codes to block vulnerable PRs in GitHub Actions or GitLab CI.</a:t>
            </a:r>
          </a:p>
          <a:p>
            <a:pPr>
              <a:lnSpc>
                <a:spcPct val="145000"/>
              </a:lnSpc>
              <a:spcAft>
                <a:spcPts val="1200"/>
              </a:spcAft>
            </a:pPr>
            <a:r>
              <a:rPr sz="15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>
                <a:solidFill>
                  <a:srgbClr val="FFFFFF"/>
                </a:solidFill>
                <a:latin typeface="Times New Roman"/>
              </a:rPr>
              <a:t>Instant Team Webhooks: </a:t>
            </a:r>
            <a:r>
              <a:rPr sz="1550" b="0">
                <a:solidFill>
                  <a:srgbClr val="D1D5DB"/>
                </a:solidFill>
                <a:latin typeface="Times New Roman"/>
              </a:rPr>
              <a:t>Dispatches automated scan summaries with risk metrics directly to Slack and Discord channels.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000" y="1050000"/>
            <a:ext cx="5200000" cy="54000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gram_cicd_gat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774" y="1193096"/>
            <a:ext cx="4911237" cy="51069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Implementation - Website Scan Results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0000" y="1166318"/>
            <a:ext cx="5345721" cy="4022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Target Web Setup: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User enters target URL, specifies port ranges, and toggles scanner plugins.</a:t>
            </a:r>
          </a:p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Real-Time Telemetry: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Live SSE progress bar displays active scanning stages from discovery to correlation.</a:t>
            </a:r>
          </a:p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Interactive Finding Cards: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Clicking any finding reveals raw evidence, CVSS risk score, and copy-paste fix code.</a:t>
            </a:r>
          </a:p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Delta Regression View: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Visual breakdown highlights NEW (Red), FIXED (Green), and UNCHANGED (Gray) bugs.</a:t>
            </a:r>
          </a:p>
          <a:p>
            <a:pPr algn="just">
              <a:lnSpc>
                <a:spcPct val="145000"/>
              </a:lnSpc>
              <a:spcAft>
                <a:spcPts val="1100"/>
              </a:spcAft>
            </a:pPr>
            <a:r>
              <a:rPr sz="155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50" b="1" dirty="0">
                <a:solidFill>
                  <a:srgbClr val="FFFFFF"/>
                </a:solidFill>
                <a:latin typeface="Times New Roman"/>
              </a:rPr>
              <a:t>Audit Report Export: </a:t>
            </a:r>
            <a:r>
              <a:rPr sz="1550" b="0" dirty="0">
                <a:solidFill>
                  <a:srgbClr val="D1D5DB"/>
                </a:solidFill>
                <a:latin typeface="Times New Roman"/>
              </a:rPr>
              <a:t>Generates executive PDF and HTML audit reports for compliance </a:t>
            </a:r>
            <a:r>
              <a:rPr sz="1550" b="0">
                <a:solidFill>
                  <a:srgbClr val="D1D5DB"/>
                </a:solidFill>
                <a:latin typeface="Times New Roman"/>
              </a:rPr>
              <a:t>records</a:t>
            </a:r>
            <a:r>
              <a:rPr sz="1550" b="0" smtClean="0">
                <a:solidFill>
                  <a:srgbClr val="D1D5DB"/>
                </a:solidFill>
                <a:latin typeface="Times New Roman"/>
              </a:rPr>
              <a:t>.</a:t>
            </a:r>
            <a:endParaRPr sz="1550" b="0" dirty="0">
              <a:solidFill>
                <a:srgbClr val="D1D5DB"/>
              </a:solidFill>
              <a:latin typeface="Times New Roman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711884" y="1050000"/>
            <a:ext cx="4619135" cy="26000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00000" y="3850000"/>
            <a:ext cx="5734334" cy="270000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387" y="1166319"/>
            <a:ext cx="4084353" cy="240643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106" y="4063952"/>
            <a:ext cx="2738061" cy="23418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0472" y="4058121"/>
            <a:ext cx="2607833" cy="234187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Results - Performance &amp; Concurrency Benchmarks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6012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Concurrency Mode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Scan Duration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Relative Speedup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 Worker (Sequential)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184.2 s (~3.1 min)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1.00x (Baseline)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4 Workers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71.4 s (~1.2 min)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2.58x Faster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8 Workers (Optimal)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64.8 s (~1.0 min)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2.84x (65% Drop)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16 Workers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66.1 s (~1.1 min)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Diminishing returns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17920" y="960120"/>
          <a:ext cx="5303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Vulnerability Type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Raw Alerts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Correlated Alerts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SQL Injections (A03)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14 Raw Alerts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8 Unique (-43%)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XSS Injections (A03)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19 Raw Alerts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13 Unique (-32%)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Misconfigurations (A05)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26 Raw Alerts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15 Unique (-42%)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Total (OWASP Juice Shop)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76 Raw Alerts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47 Clean (-38.2%)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2880360"/>
            <a:ext cx="5303520" cy="256032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iagram_latency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640" y="2970360"/>
            <a:ext cx="5123520" cy="2380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2880360"/>
            <a:ext cx="5303520" cy="256032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diagram_noise_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7920" y="2970360"/>
            <a:ext cx="5123520" cy="238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577840"/>
            <a:ext cx="10972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14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450" b="1">
                <a:solidFill>
                  <a:srgbClr val="FFFFFF"/>
                </a:solidFill>
                <a:latin typeface="Times New Roman"/>
              </a:rPr>
              <a:t>Concurrency Scaling: </a:t>
            </a:r>
            <a:r>
              <a:rPr sz="1450" b="0">
                <a:solidFill>
                  <a:srgbClr val="D1D5DB"/>
                </a:solidFill>
                <a:latin typeface="Times New Roman"/>
              </a:rPr>
              <a:t>8 worker threads achieve optimal performance, cutting scan duration by 64.8% (184.2s to 64.8s, a 2.84× speedup).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14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450" b="1">
                <a:solidFill>
                  <a:srgbClr val="FFFFFF"/>
                </a:solidFill>
                <a:latin typeface="Times New Roman"/>
              </a:rPr>
              <a:t>Noise Suppression: </a:t>
            </a:r>
            <a:r>
              <a:rPr sz="1450" b="0">
                <a:solidFill>
                  <a:srgbClr val="D1D5DB"/>
                </a:solidFill>
                <a:latin typeface="Times New Roman"/>
              </a:rPr>
              <a:t>Compound deduplication suppresses 38.2% duplicate alert clutter (76 down to 47) with 97.9% precision, resolving developer alert fatigue.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Results - Verification &amp; Delta Regression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960120"/>
          <a:ext cx="57607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005840"/>
                <a:gridCol w="128016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Subsystem Tested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Test Count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Verification Scope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Smart Web Crawler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8 Tests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✓ 100% PASS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Extracts forms, links, query params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Parallel Engine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12 Tests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✓ 100% PASS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Threading &amp; concurrent task queues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14 Scanner Plugins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18 Tests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✓ 100% PASS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SQLi, XSS, CORS, SSRF, JWT, Auth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Smart Intelligence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12 Tests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✓ 100% PASS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Deduplication &amp; NIST CVE scoring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Delta Comparison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8 Tests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✓ 100% PASS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Labels NEW, FIXED, UNCHANGED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Live Dashboard &amp; SSE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10 Tests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✓ 100% PASS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Real-time SSE progress &amp; modals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User Auth &amp; CI Gating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12 Tests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✓ 100% PASS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PBKDF2 auth &amp; --fail-on gating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92240" y="960120"/>
            <a:ext cx="5120640" cy="2468880"/>
          </a:xfrm>
          <a:prstGeom prst="roundRect">
            <a:avLst>
              <a:gd name="adj" fmla="val 6000"/>
            </a:avLst>
          </a:prstGeom>
          <a:solidFill>
            <a:srgbClr val="1A1030"/>
          </a:solidFill>
          <a:ln w="12000">
            <a:solidFill>
              <a:srgbClr val="5B4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iagram_delta_tr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2240" y="1050120"/>
            <a:ext cx="4940640" cy="228888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3566160"/>
          <a:ext cx="5120640" cy="1790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210312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Software Release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Active Flaws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7DE545"/>
                          </a:solidFill>
                          <a:latin typeface="Times New Roman"/>
                        </a:rPr>
                        <a:t>Delta Regression Status</a:t>
                      </a:r>
                    </a:p>
                  </a:txBody>
                  <a:tcPr>
                    <a:solidFill>
                      <a:srgbClr val="1A103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Build v1.0 (Baseline)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47 Active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Initial full baseline audit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Build v1.1 (Patch &amp; New)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40 Active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-10 FIXED, +3 NEW</a:t>
                      </a:r>
                    </a:p>
                  </a:txBody>
                  <a:tcPr>
                    <a:solidFill>
                      <a:srgbClr val="2E1C4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Build v1.2 (Hardened)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D1D5DB"/>
                          </a:solidFill>
                          <a:latin typeface="Times New Roman"/>
                        </a:rPr>
                        <a:t>26 Active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DE545"/>
                          </a:solidFill>
                          <a:latin typeface="Times New Roman"/>
                        </a:rPr>
                        <a:t>-14 FIXED, 0 NEW</a:t>
                      </a:r>
                    </a:p>
                  </a:txBody>
                  <a:tcPr>
                    <a:solidFill>
                      <a:srgbClr val="23153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577840"/>
            <a:ext cx="1097280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14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450" b="1">
                <a:solidFill>
                  <a:srgbClr val="FFFFFF"/>
                </a:solidFill>
                <a:latin typeface="Times New Roman"/>
              </a:rPr>
              <a:t>Quality Assurance: </a:t>
            </a:r>
            <a:r>
              <a:rPr sz="1450" b="0">
                <a:solidFill>
                  <a:srgbClr val="D1D5DB"/>
                </a:solidFill>
                <a:latin typeface="Times New Roman"/>
              </a:rPr>
              <a:t>All 80 benchmark unit and integration tests (and 124 full codebase tests) pass with 100% success in under 15s.</a:t>
            </a:r>
          </a:p>
          <a:p>
            <a:pPr>
              <a:lnSpc>
                <a:spcPct val="135000"/>
              </a:lnSpc>
              <a:spcAft>
                <a:spcPts val="400"/>
              </a:spcAft>
            </a:pPr>
            <a:r>
              <a:rPr sz="1450" b="1">
                <a:solidFill>
                  <a:srgbClr val="7DE545"/>
                </a:solidFill>
                <a:latin typeface="Times New Roman"/>
              </a:rPr>
              <a:t>•  </a:t>
            </a:r>
            <a:r>
              <a:rPr sz="1450" b="1">
                <a:solidFill>
                  <a:srgbClr val="FFFFFF"/>
                </a:solidFill>
                <a:latin typeface="Times New Roman"/>
              </a:rPr>
              <a:t>Patch Verification: </a:t>
            </a:r>
            <a:r>
              <a:rPr sz="1450" b="0">
                <a:solidFill>
                  <a:srgbClr val="D1D5DB"/>
                </a:solidFill>
                <a:latin typeface="Times New Roman"/>
              </a:rPr>
              <a:t>Stateful delta diffing mechanically verifies whether committed patches resolved the target flaw or introduced regressions.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150000"/>
            <a:ext cx="10600000" cy="5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Unified Security Platform: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Successfully integrated 14 specialized scanner plugins under an extensible concurrent engine, eliminating fragmented CLI tools.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Proven Concurrency Speedup: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Achieved a 64.8% reduction in scan latency (from 184.2s to 64.8s, delivering a 2.84× speedup) via multi-threaded worker pools.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Significant Noise Drop: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Suppressed 38.2% of duplicate alert clutter (76 down to 47) with 97.9% precision, resolving developer alert fatigue.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Production DevSecOps Readiness: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Delivered a live-streaming web dashboard, PDF executive reporting, Slack/Discord alerts, and CI/CD build blocking via `--fail-on`.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 err="1">
                <a:solidFill>
                  <a:srgbClr val="FFFFFF"/>
                </a:solidFill>
                <a:latin typeface="Times New Roman"/>
              </a:rPr>
              <a:t>Stateful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 Delta Auditing: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Introduced set-theoretic regression tracking (NEW, FIXED, UNCHANGED) to verify patches across software releases.</a:t>
            </a:r>
          </a:p>
          <a:p>
            <a:pPr algn="just">
              <a:lnSpc>
                <a:spcPct val="145000"/>
              </a:lnSpc>
              <a:spcAft>
                <a:spcPts val="1200"/>
              </a:spcAft>
            </a:pPr>
            <a:r>
              <a:rPr sz="16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600" b="1" dirty="0">
                <a:solidFill>
                  <a:srgbClr val="FFFFFF"/>
                </a:solidFill>
                <a:latin typeface="Times New Roman"/>
              </a:rPr>
              <a:t>Verified Open-Source Release: 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80/80 automated tests passing with 100% success in 13.68s; full open-source codebase and research paper available on </a:t>
            </a:r>
            <a:r>
              <a:rPr sz="1600" b="0" dirty="0" err="1">
                <a:solidFill>
                  <a:srgbClr val="D1D5DB"/>
                </a:solidFill>
                <a:latin typeface="Times New Roman"/>
              </a:rPr>
              <a:t>GitHub</a:t>
            </a:r>
            <a:r>
              <a:rPr sz="1600" b="0" dirty="0">
                <a:solidFill>
                  <a:srgbClr val="D1D5DB"/>
                </a:solidFill>
                <a:latin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250000"/>
            <a:ext cx="10972525" cy="6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Source Code Pro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0000" y="1150000"/>
            <a:ext cx="10600000" cy="5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[1]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G. F. Lyon, Nmap Network Scanning: The Official Nmap Project Guide. </a:t>
            </a:r>
            <a:r>
              <a:rPr sz="1500" b="0" dirty="0" err="1">
                <a:solidFill>
                  <a:srgbClr val="D1D5DB"/>
                </a:solidFill>
                <a:latin typeface="Times New Roman"/>
              </a:rPr>
              <a:t>Insecure.Com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 LLC, 2009.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[2]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A. M. </a:t>
            </a:r>
            <a:r>
              <a:rPr sz="1500" b="0" dirty="0" err="1">
                <a:solidFill>
                  <a:srgbClr val="D1D5DB"/>
                </a:solidFill>
                <a:latin typeface="Times New Roman"/>
              </a:rPr>
              <a:t>Akinyemi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 and S. Sims, “Role of AI in Cybersecurity Vulnerability Management Practices,” WJARR, 2025.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[3]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V. T. Daniel et al., “A Systematic Review of AI-Driven Automated Software Vulnerability Detection Systems,” IJCSMT, 2025.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[4]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D. </a:t>
            </a:r>
            <a:r>
              <a:rPr sz="1500" b="0" dirty="0" err="1">
                <a:solidFill>
                  <a:srgbClr val="D1D5DB"/>
                </a:solidFill>
                <a:latin typeface="Times New Roman"/>
              </a:rPr>
              <a:t>Sonawane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 et al., “Practical Vulnerability Detection Using </a:t>
            </a:r>
            <a:r>
              <a:rPr sz="1500" b="0" dirty="0" err="1">
                <a:solidFill>
                  <a:srgbClr val="D1D5DB"/>
                </a:solidFill>
                <a:latin typeface="Times New Roman"/>
              </a:rPr>
              <a:t>Wireshark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, Nmap, </a:t>
            </a:r>
            <a:r>
              <a:rPr sz="1500" b="0" dirty="0" err="1">
                <a:solidFill>
                  <a:srgbClr val="D1D5DB"/>
                </a:solidFill>
                <a:latin typeface="Times New Roman"/>
              </a:rPr>
              <a:t>Metasploit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,” IJCRT, 2025.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[5]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J. P. </a:t>
            </a:r>
            <a:r>
              <a:rPr sz="1500" b="0" dirty="0" err="1">
                <a:solidFill>
                  <a:srgbClr val="D1D5DB"/>
                </a:solidFill>
                <a:latin typeface="Times New Roman"/>
              </a:rPr>
              <a:t>Seara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 and C. </a:t>
            </a:r>
            <a:r>
              <a:rPr sz="1500" b="0" dirty="0" err="1">
                <a:solidFill>
                  <a:srgbClr val="D1D5DB"/>
                </a:solidFill>
                <a:latin typeface="Times New Roman"/>
              </a:rPr>
              <a:t>Serrão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, “Automation of System Security Vulnerabilities Detection Using Open-Source Software,” Electronics, 2024.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[6]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OWASP Top 10 Team, “OWASP Top 10: The Ten Most Critical Web Application Security Risks,” 2021.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[7]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PCI Security Standards Council, “Payment Card Industry Data Security Standard (PCI-DSS) v4.0,” 2022.</a:t>
            </a:r>
          </a:p>
          <a:p>
            <a:pPr>
              <a:lnSpc>
                <a:spcPct val="140000"/>
              </a:lnSpc>
              <a:spcAft>
                <a:spcPts val="900"/>
              </a:spcAft>
            </a:pPr>
            <a:r>
              <a:rPr sz="1500" b="1" dirty="0">
                <a:solidFill>
                  <a:srgbClr val="7DE545"/>
                </a:solidFill>
                <a:latin typeface="Times New Roman"/>
              </a:rPr>
              <a:t>•  </a:t>
            </a:r>
            <a:r>
              <a:rPr sz="1500" b="1" dirty="0">
                <a:solidFill>
                  <a:srgbClr val="FFFFFF"/>
                </a:solidFill>
                <a:latin typeface="Times New Roman"/>
              </a:rPr>
              <a:t>[8] </a:t>
            </a:r>
            <a:r>
              <a:rPr sz="1500" b="0" dirty="0">
                <a:solidFill>
                  <a:srgbClr val="D1D5DB"/>
                </a:solidFill>
                <a:latin typeface="Times New Roman"/>
              </a:rPr>
              <a:t>NIST, “National Vulnerability Database (NVD) REST API v2.0 Specification,” 2023.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1A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0000" y="1500000"/>
            <a:ext cx="8192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ource Code Pro"/>
              </a:defRPr>
            </a:pPr>
            <a:r>
              <a:t>THANK YOU</a:t>
            </a:r>
          </a:p>
          <a:p>
            <a:pPr algn="ctr">
              <a:spcBef>
                <a:spcPts val="1000"/>
              </a:spcBef>
              <a:defRPr sz="2200" b="1">
                <a:solidFill>
                  <a:srgbClr val="7DE545"/>
                </a:solidFill>
                <a:latin typeface="Times New Roman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428</TotalTime>
  <Words>2811</Words>
  <Application>Microsoft Office PowerPoint</Application>
  <PresentationFormat>Widescreen</PresentationFormat>
  <Paragraphs>243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Calibri</vt:lpstr>
      <vt:lpstr>Roboto Flex</vt:lpstr>
      <vt:lpstr>Source Code Pro</vt:lpstr>
      <vt:lpstr>Times New Roman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Vishal</dc:creator>
  <cp:keywords/>
  <dc:description>generated using python-pptx</dc:description>
  <cp:lastModifiedBy>Microsoft account</cp:lastModifiedBy>
  <cp:revision>23</cp:revision>
  <dcterms:created xsi:type="dcterms:W3CDTF">2013-01-27T09:14:16Z</dcterms:created>
  <dcterms:modified xsi:type="dcterms:W3CDTF">2026-09-09T08:52:24Z</dcterms:modified>
  <cp:category/>
</cp:coreProperties>
</file>