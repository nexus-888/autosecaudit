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70" r:id="rId13"/>
    <p:sldId id="269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1A48"/>
    <a:srgbClr val="77D8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C9E03-69DD-4ADE-9155-D71BD24778A3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FE908-A1CA-42A0-9134-954F13263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01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FE908-A1CA-42A0-9134-954F132634C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837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FE908-A1CA-42A0-9134-954F132634C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949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42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6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7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0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9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7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6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9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00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53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17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20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6171"/>
            <a:ext cx="12191695" cy="6831828"/>
          </a:xfrm>
          <a:prstGeom prst="rect">
            <a:avLst/>
          </a:prstGeom>
          <a:gradFill rotWithShape="1">
            <a:gsLst>
              <a:gs pos="0">
                <a:srgbClr val="2A1A48">
                  <a:alpha val="95000"/>
                </a:srgbClr>
              </a:gs>
              <a:gs pos="100000">
                <a:srgbClr val="2A1A48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24867" y="2816091"/>
            <a:ext cx="3259804" cy="6670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2600"/>
              </a:spcAft>
            </a:pPr>
            <a:r>
              <a:rPr sz="3468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AutoSecAudit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3468" y="3813008"/>
            <a:ext cx="8169016" cy="42460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3120"/>
              </a:spcAft>
            </a:pPr>
            <a:r>
              <a:rPr b="1" dirty="0">
                <a:solidFill>
                  <a:srgbClr val="E5E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Multi-Tool Framework for Automated Security Auditing of Web Applications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9831" y="5228526"/>
            <a:ext cx="1516697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7DE545"/>
                </a:solidFill>
                <a:latin typeface="Roboto Flex"/>
              </a:rPr>
              <a:t>Submitted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9831" y="5495040"/>
            <a:ext cx="398731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Roboto Flex"/>
              </a:rPr>
              <a:t>KODI VISHRUTH AITHAL</a:t>
            </a:r>
            <a:r>
              <a:rPr sz="1600" b="0">
                <a:solidFill>
                  <a:srgbClr val="D1D5DB"/>
                </a:solidFill>
                <a:latin typeface="Roboto Flex"/>
              </a:rPr>
              <a:t> </a:t>
            </a:r>
            <a:r>
              <a:rPr sz="1600" b="0">
                <a:solidFill>
                  <a:srgbClr val="9CA3AF"/>
                </a:solidFill>
                <a:latin typeface="Roboto Flex"/>
              </a:rPr>
              <a:t>: 1DB23CS104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9831" y="5723640"/>
            <a:ext cx="252658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Roboto Flex"/>
              </a:rPr>
              <a:t>THILAK N</a:t>
            </a:r>
            <a:r>
              <a:rPr sz="1600" b="0" dirty="0">
                <a:solidFill>
                  <a:srgbClr val="D1D5DB"/>
                </a:solidFill>
                <a:latin typeface="Roboto Flex"/>
              </a:rPr>
              <a:t> </a:t>
            </a:r>
            <a:r>
              <a:rPr sz="1600" b="0" dirty="0">
                <a:solidFill>
                  <a:srgbClr val="9CA3AF"/>
                </a:solidFill>
                <a:latin typeface="Roboto Flex"/>
              </a:rPr>
              <a:t>: 1DB23CS22</a:t>
            </a:r>
            <a:r>
              <a:rPr lang="en-US" sz="1600" b="0" dirty="0">
                <a:solidFill>
                  <a:srgbClr val="9CA3AF"/>
                </a:solidFill>
                <a:latin typeface="Roboto Flex"/>
              </a:rPr>
              <a:t>9</a:t>
            </a:r>
            <a:endParaRPr sz="1600" b="0" dirty="0">
              <a:solidFill>
                <a:srgbClr val="9CA3AF"/>
              </a:solidFill>
              <a:latin typeface="Roboto Flex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79831" y="5952241"/>
            <a:ext cx="3322833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Roboto Flex"/>
              </a:rPr>
              <a:t>VINAYA KUMAR B</a:t>
            </a:r>
            <a:r>
              <a:rPr sz="1600" b="0" dirty="0">
                <a:solidFill>
                  <a:srgbClr val="D1D5DB"/>
                </a:solidFill>
                <a:latin typeface="Roboto Flex"/>
              </a:rPr>
              <a:t> </a:t>
            </a:r>
            <a:r>
              <a:rPr sz="1600" b="0" dirty="0">
                <a:solidFill>
                  <a:srgbClr val="9CA3AF"/>
                </a:solidFill>
                <a:latin typeface="Roboto Flex"/>
              </a:rPr>
              <a:t>: 1DB23CS244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9831" y="6180841"/>
            <a:ext cx="338246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Roboto Flex"/>
              </a:rPr>
              <a:t>VISHAL GOWDA B</a:t>
            </a:r>
            <a:r>
              <a:rPr sz="1600" b="0" dirty="0">
                <a:solidFill>
                  <a:srgbClr val="D1D5DB"/>
                </a:solidFill>
                <a:latin typeface="Roboto Flex"/>
              </a:rPr>
              <a:t> </a:t>
            </a:r>
            <a:r>
              <a:rPr sz="1600" b="0" dirty="0">
                <a:solidFill>
                  <a:srgbClr val="9CA3AF"/>
                </a:solidFill>
                <a:latin typeface="Roboto Flex"/>
              </a:rPr>
              <a:t>: 1DB23CS246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5980" y="5280084"/>
            <a:ext cx="2382319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7DE545"/>
                </a:solidFill>
                <a:latin typeface="Roboto Flex"/>
              </a:rPr>
              <a:t>Under the guidance of: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5980" y="5552824"/>
            <a:ext cx="137922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FFFFFF"/>
                </a:solidFill>
                <a:latin typeface="Roboto Flex"/>
              </a:rPr>
              <a:t>RANJITHA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5980" y="5851584"/>
            <a:ext cx="1915845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1D5DB"/>
                </a:solidFill>
                <a:latin typeface="Roboto Flex"/>
              </a:rPr>
              <a:t>Assistant Professor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5980" y="6042085"/>
            <a:ext cx="1287468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1D5DB"/>
                </a:solidFill>
                <a:latin typeface="Roboto Flex"/>
              </a:rPr>
              <a:t>Dept of CSE</a:t>
            </a:r>
          </a:p>
        </p:txBody>
      </p:sp>
      <p:sp>
        <p:nvSpPr>
          <p:cNvPr id="26" name="TextBox 1"/>
          <p:cNvSpPr txBox="1"/>
          <p:nvPr/>
        </p:nvSpPr>
        <p:spPr>
          <a:xfrm>
            <a:off x="1008645" y="129309"/>
            <a:ext cx="101180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chemeClr val="bg1"/>
                </a:solidFill>
              </a:rPr>
              <a:t>Wayanamac Education Trust®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 BOSCO INSTITUTE OF TECHNOLOGY</a:t>
            </a:r>
          </a:p>
          <a:p>
            <a:pPr algn="ctr"/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Kumbalagodu, Mysuru Road, Bengaluru – 560074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 under VTU, Accredited by NBA &amp; NAAC with ‘A’ Grade</a:t>
            </a:r>
            <a:b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 by AICTE, New Delhi, Recognized by Govt. of Karnataka)</a:t>
            </a:r>
          </a:p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www.dbit.co.in cse@dbit.co.in      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Ph: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+91-80-28437028 / 29 / 30 (Extn. 131)</a:t>
            </a:r>
          </a:p>
          <a:p>
            <a:pPr algn="ctr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20" b="99120" l="1019" r="97870"/>
                    </a14:imgEffect>
                    <a14:imgEffect>
                      <a14:saturation sat="1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7" y="155480"/>
            <a:ext cx="1641260" cy="1899606"/>
          </a:xfrm>
          <a:prstGeom prst="rect">
            <a:avLst/>
          </a:prstGeom>
          <a:noFill/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12777" y1="76111" x2="14395" y2="78241"/>
                        <a14:foregroundMark x1="24617" y1="8704" x2="24617" y2="8704"/>
                        <a14:foregroundMark x1="25724" y1="8704" x2="37649" y2="3056"/>
                        <a14:foregroundMark x1="24361" y1="8519" x2="6729" y2="25926"/>
                        <a14:foregroundMark x1="6985" y1="26389" x2="1704" y2="41204"/>
                        <a14:foregroundMark x1="1704" y1="43796" x2="1448" y2="56944"/>
                        <a14:foregroundMark x1="1704" y1="59167" x2="18399" y2="87685"/>
                        <a14:foregroundMark x1="20613" y1="89444" x2="40204" y2="2037"/>
                        <a14:foregroundMark x1="30494" y1="46111" x2="98467" y2="57870"/>
                        <a14:foregroundMark x1="98382" y1="57870" x2="20358" y2="88981"/>
                        <a14:foregroundMark x1="21295" y1="87222" x2="60988" y2="97130"/>
                        <a14:foregroundMark x1="60988" y1="97685" x2="22061" y2="90000"/>
                        <a14:foregroundMark x1="61414" y1="97407" x2="98126" y2="58796"/>
                        <a14:foregroundMark x1="65417" y1="96204" x2="84072" y2="84537"/>
                        <a14:foregroundMark x1="98126" y1="45093" x2="97019" y2="34537"/>
                        <a14:foregroundMark x1="43697" y1="2130" x2="56985" y2="2870"/>
                        <a14:foregroundMark x1="47189" y1="1204" x2="64480" y2="3056"/>
                        <a14:foregroundMark x1="65843" y1="3148" x2="86457" y2="16204"/>
                        <a14:foregroundMark x1="97785" y1="37222" x2="98978" y2="437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664" y="333167"/>
            <a:ext cx="1678639" cy="1544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8464" y="145277"/>
            <a:ext cx="3083408" cy="56438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2400" b="1" dirty="0">
                <a:solidFill>
                  <a:srgbClr val="FFFFFF"/>
                </a:solidFill>
                <a:latin typeface="Source Code Pro"/>
              </a:rPr>
              <a:t> of Contents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8464" y="1039862"/>
            <a:ext cx="5046134" cy="4618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01</a:t>
            </a:r>
            <a:r>
              <a:rPr lang="en-US" dirty="0">
                <a:solidFill>
                  <a:schemeClr val="bg1"/>
                </a:solidFill>
              </a:rPr>
              <a:t>  Abstract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02</a:t>
            </a:r>
            <a:r>
              <a:rPr lang="en-US" dirty="0">
                <a:solidFill>
                  <a:schemeClr val="bg1"/>
                </a:solidFill>
              </a:rPr>
              <a:t>  Introduction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03</a:t>
            </a:r>
            <a:r>
              <a:rPr lang="en-US" dirty="0">
                <a:solidFill>
                  <a:schemeClr val="bg1"/>
                </a:solidFill>
              </a:rPr>
              <a:t>  Problem Statement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04</a:t>
            </a:r>
            <a:r>
              <a:rPr lang="en-US" dirty="0">
                <a:solidFill>
                  <a:schemeClr val="bg1"/>
                </a:solidFill>
              </a:rPr>
              <a:t>  Objectives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05</a:t>
            </a:r>
            <a:r>
              <a:rPr lang="en-US" dirty="0">
                <a:solidFill>
                  <a:schemeClr val="bg1"/>
                </a:solidFill>
              </a:rPr>
              <a:t>  Literature Survey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06</a:t>
            </a:r>
            <a:r>
              <a:rPr lang="en-US" dirty="0">
                <a:solidFill>
                  <a:schemeClr val="bg1"/>
                </a:solidFill>
              </a:rPr>
              <a:t>  Proposed Model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07</a:t>
            </a:r>
            <a:r>
              <a:rPr lang="en-US" dirty="0">
                <a:solidFill>
                  <a:schemeClr val="bg1"/>
                </a:solidFill>
              </a:rPr>
              <a:t>  System Design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08</a:t>
            </a:r>
            <a:r>
              <a:rPr lang="en-US" dirty="0">
                <a:solidFill>
                  <a:schemeClr val="bg1"/>
                </a:solidFill>
              </a:rPr>
              <a:t>  Languages &amp; Tools Used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09</a:t>
            </a:r>
            <a:r>
              <a:rPr lang="en-US" dirty="0">
                <a:solidFill>
                  <a:schemeClr val="bg1"/>
                </a:solidFill>
              </a:rPr>
              <a:t>  Implementation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10</a:t>
            </a:r>
            <a:r>
              <a:rPr lang="en-US" dirty="0">
                <a:solidFill>
                  <a:schemeClr val="bg1"/>
                </a:solidFill>
              </a:rPr>
              <a:t>  Conclusion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77D844"/>
                </a:solidFill>
              </a:rPr>
              <a:t>11</a:t>
            </a:r>
            <a:r>
              <a:rPr lang="en-US" dirty="0">
                <a:solidFill>
                  <a:schemeClr val="bg1"/>
                </a:solidFill>
              </a:rPr>
              <a:t>  </a:t>
            </a:r>
            <a:r>
              <a:rPr lang="en-US" dirty="0" smtClean="0">
                <a:solidFill>
                  <a:schemeClr val="bg1"/>
                </a:solidFill>
              </a:rPr>
              <a:t>References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2337" y="392706"/>
            <a:ext cx="1289071" cy="5578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776995"/>
            <a:ext cx="304792" cy="216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773" y="1657468"/>
            <a:ext cx="281673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Development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773" y="2019765"/>
            <a:ext cx="6476838" cy="5981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tools accelerate web app development but often overlook </a:t>
            </a: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validation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leaving applications vulnerable to cyber threats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2886291"/>
            <a:ext cx="304792" cy="246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773" y="2781418"/>
            <a:ext cx="228921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773" y="3143714"/>
            <a:ext cx="6476838" cy="5981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configurations, exposed services, improper authentication, outdated components remain </a:t>
            </a: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undetected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proper security auditing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84" y="4013905"/>
            <a:ext cx="304792" cy="257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6773" y="3914893"/>
            <a:ext cx="174701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773" y="4277190"/>
            <a:ext cx="6476838" cy="5981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security audit framework integrating </a:t>
            </a: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scanning tools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modular architecture for centralized analysis and reporting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6165" y="1508963"/>
            <a:ext cx="3585882" cy="3724275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65749" y="5472112"/>
            <a:ext cx="3406298" cy="647699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A1A48">
                  <a:alpha val="95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27219" y="5603778"/>
            <a:ext cx="2257606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Multi-Tool Security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7219" y="5792477"/>
            <a:ext cx="2351093" cy="24301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Vulnerability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21127"/>
            <a:ext cx="1810945" cy="5578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109204"/>
            <a:ext cx="2439514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Infrastructure 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38270"/>
            <a:ext cx="6934026" cy="5981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 form the backbone of modern digital services across </a:t>
            </a:r>
            <a:r>
              <a:rPr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e-commerce, banking, healthcare, and enterprise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2385555"/>
            <a:ext cx="2207592" cy="360868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Evolution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814619"/>
            <a:ext cx="6934026" cy="5981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coding tools</a:t>
            </a:r>
            <a:r>
              <a:rPr sz="14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rapid development frameworks accelerate deployment but often introduce security challenges due to insufficient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932772"/>
            <a:ext cx="1751505" cy="34881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Vulnerabilities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4411979"/>
            <a:ext cx="3409864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1980" y="4551996"/>
            <a:ext cx="228594" cy="1771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872" y="4490217"/>
            <a:ext cx="1412503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E5E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Network 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746" y="4411979"/>
            <a:ext cx="3409864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142" y="4543424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29034" y="4490217"/>
            <a:ext cx="1555169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5E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Misconfigured Servers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983479"/>
            <a:ext cx="3409864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980" y="5149213"/>
            <a:ext cx="228594" cy="12572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872" y="5061717"/>
            <a:ext cx="1020472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5E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746" y="4983479"/>
            <a:ext cx="3409864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6142" y="5123496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629034" y="5061717"/>
            <a:ext cx="1393267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5E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Cross-Site Scripting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5554979"/>
            <a:ext cx="3409864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1980" y="5680709"/>
            <a:ext cx="228594" cy="2057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04872" y="5633217"/>
            <a:ext cx="1618841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5E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Insecure Authentication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33746" y="5554979"/>
            <a:ext cx="3409864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86142" y="5686423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29034" y="5633217"/>
            <a:ext cx="1309910" cy="30072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5E7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Outdated Libraries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5592" y="1352549"/>
            <a:ext cx="3276518" cy="2057400"/>
          </a:xfrm>
          <a:prstGeom prst="roundRect">
            <a:avLst>
              <a:gd name="adj" fmla="val 7407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29434" y="1638934"/>
            <a:ext cx="168129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9434" y="1990378"/>
            <a:ext cx="2628834" cy="12008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security audit framework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multiple scanning tools with </a:t>
            </a: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future extensibility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5592" y="3638550"/>
            <a:ext cx="3276518" cy="26670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21127"/>
            <a:ext cx="2671757" cy="5578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322336"/>
            <a:ext cx="342891" cy="2394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971" y="1195039"/>
            <a:ext cx="333129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Rapid Development </a:t>
            </a:r>
            <a:r>
              <a:rPr sz="16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Security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2971" y="1557336"/>
            <a:ext cx="6400639" cy="5981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AI-assisted tools accelerate development but </a:t>
            </a: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inadequate security testing</a:t>
            </a: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leaves applications vulnerable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" y="2409336"/>
            <a:ext cx="342891" cy="3133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2971" y="2318989"/>
            <a:ext cx="302877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Without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2971" y="2681286"/>
            <a:ext cx="6400639" cy="5981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deployed without comprehensive vulnerability checks due to </a:t>
            </a: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constraints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expertise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84" y="3545110"/>
            <a:ext cx="342891" cy="2896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2971" y="3442940"/>
            <a:ext cx="251043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 Technical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71" y="3805237"/>
            <a:ext cx="6400639" cy="5981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scanning tools generate </a:t>
            </a: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technical data</a:t>
            </a: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difficult for developers to interpret and prioritize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84" y="4693365"/>
            <a:ext cx="342891" cy="26013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2971" y="4576415"/>
            <a:ext cx="264508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Fragmented Tool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2971" y="4938712"/>
            <a:ext cx="6400639" cy="59811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tools operate </a:t>
            </a: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</a:t>
            </a: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requiring manual analysis and result consolidation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5592" y="1257300"/>
            <a:ext cx="3276518" cy="2057400"/>
          </a:xfrm>
          <a:prstGeom prst="roundRect">
            <a:avLst>
              <a:gd name="adj" fmla="val 7407"/>
            </a:avLst>
          </a:prstGeom>
          <a:gradFill rotWithShape="1">
            <a:gsLst>
              <a:gs pos="0">
                <a:srgbClr val="7F1D1D"/>
              </a:gs>
              <a:gs pos="100000">
                <a:srgbClr val="991B1B"/>
              </a:gs>
            </a:gsLst>
            <a:lin ang="8100000" scaled="0"/>
          </a:gradFill>
          <a:ln w="1651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29434" y="1601442"/>
            <a:ext cx="266693" cy="2261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29434" y="2000250"/>
            <a:ext cx="2628834" cy="9905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</a:t>
            </a: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 automated framework</a:t>
            </a: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integrating multiple tools with clear, structured security reporting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9294" y="3524746"/>
            <a:ext cx="4285130" cy="28575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32"/>
          <p:cNvSpPr/>
          <p:nvPr/>
        </p:nvSpPr>
        <p:spPr>
          <a:xfrm>
            <a:off x="609584" y="5823136"/>
            <a:ext cx="10972525" cy="809624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09584" y="121127"/>
            <a:ext cx="1527919" cy="5578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14425"/>
            <a:ext cx="5371965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7228" y="1365132"/>
            <a:ext cx="327269" cy="4510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159" y="1324609"/>
            <a:ext cx="342106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Framework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159" y="1679217"/>
            <a:ext cx="4133746" cy="5468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 automated framework for performing security audits on web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4" y="1114425"/>
            <a:ext cx="5371965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57788" y="1365132"/>
            <a:ext cx="327269" cy="4510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719" y="1324609"/>
            <a:ext cx="219034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719" y="1685403"/>
            <a:ext cx="4133746" cy="5344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 common vulnerabilities in</a:t>
            </a:r>
            <a:r>
              <a:rPr lang="en-US"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rapidly</a:t>
            </a:r>
            <a:r>
              <a:rPr lang="en-US"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developed web applications and system configurations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2676524"/>
            <a:ext cx="5371965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7228" y="2927232"/>
            <a:ext cx="327269" cy="4510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159" y="2886709"/>
            <a:ext cx="157318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159" y="3241317"/>
            <a:ext cx="4133746" cy="5468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multiple security scanning tools within unified framework to improve detection coverage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4" y="2676524"/>
            <a:ext cx="5371965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57788" y="2927232"/>
            <a:ext cx="327269" cy="4510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719" y="2886709"/>
            <a:ext cx="184210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Consolidation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719" y="3241317"/>
            <a:ext cx="4133746" cy="5468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and consolidate security findings from different tools and organize results for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238624"/>
            <a:ext cx="5371965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7228" y="4489332"/>
            <a:ext cx="327269" cy="4510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159" y="4448809"/>
            <a:ext cx="164961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Severity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159" y="4803417"/>
            <a:ext cx="4133746" cy="54681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detected vulnerabilities and classify them based on severity and potential impact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4" y="4238624"/>
            <a:ext cx="5371965" cy="13335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57788" y="4489332"/>
            <a:ext cx="327269" cy="4510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0719" y="4448809"/>
            <a:ext cx="204357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Reporting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719" y="4809603"/>
            <a:ext cx="4133746" cy="5344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just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structured security audit reports with clear descriptions and recommended mitigation strategies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128" y="5972989"/>
            <a:ext cx="327269" cy="451086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2059" y="6112971"/>
            <a:ext cx="342891" cy="30447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057347" y="5932466"/>
            <a:ext cx="207127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347" y="6278440"/>
            <a:ext cx="8603574" cy="31643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framework in modular manner to enable future integration of additional security tools and analysis techniques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21127"/>
            <a:ext cx="2503442" cy="5578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460520"/>
              </p:ext>
            </p:extLst>
          </p:nvPr>
        </p:nvGraphicFramePr>
        <p:xfrm>
          <a:off x="609586" y="678973"/>
          <a:ext cx="10862745" cy="5856581"/>
        </p:xfrm>
        <a:graphic>
          <a:graphicData uri="http://schemas.openxmlformats.org/drawingml/2006/table">
            <a:tbl>
              <a:tblPr/>
              <a:tblGrid>
                <a:gridCol w="2172549"/>
                <a:gridCol w="2172549"/>
                <a:gridCol w="2172549"/>
                <a:gridCol w="2172549"/>
                <a:gridCol w="2172549"/>
              </a:tblGrid>
              <a:tr h="421482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Project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9630">
                <a:tc>
                  <a:txBody>
                    <a:bodyPr/>
                    <a:lstStyle/>
                    <a:p>
                      <a:r>
                        <a:rPr lang="en-IN" sz="16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Akinyemi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(2025)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of AI in Modern Cybersecurity Vulnerability Management Practices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ML improve threat detection and automation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importance of automation in security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more on concepts than implementation details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9630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Daniel et al. (2025)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Systematic Review of AI-Driven Automated Software Vulnerability Detection Systems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vulnerability detection using ML techniques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intelligent detection potential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Review-based study without practical framework development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593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Sonawane et al. (2025)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Vulnerability Detection Using Wireshark, Nmap, Metasploit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multiple security tools for testing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multi-tool integration approach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manual penetration testing knowledge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9630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Seara et al. (2024)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 of System Security Vulnerabilities Detection Using Open-Source Software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scanning and report generation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for automated security scanning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support for advanced vulnerability analysis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593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Aumpansub et al. (2021)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Software Vulnerabilities Using Neural Networks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network-based vulnerability detection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automation improves detection accuracy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depends on training dataset quality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ounded Rectangle 37"/>
          <p:cNvSpPr/>
          <p:nvPr/>
        </p:nvSpPr>
        <p:spPr>
          <a:xfrm>
            <a:off x="7619806" y="685800"/>
            <a:ext cx="4419793" cy="5974976"/>
          </a:xfrm>
          <a:prstGeom prst="roundRect">
            <a:avLst>
              <a:gd name="adj" fmla="val 7407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" name="TextBox 1"/>
          <p:cNvSpPr txBox="1"/>
          <p:nvPr/>
        </p:nvSpPr>
        <p:spPr>
          <a:xfrm>
            <a:off x="609584" y="121127"/>
            <a:ext cx="2280624" cy="5578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38" y="1395131"/>
            <a:ext cx="3428914" cy="14478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3" y="1633671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573" y="1567216"/>
            <a:ext cx="1362809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1044" y="2014915"/>
            <a:ext cx="3009824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for providing target web application URL or server address to initiate security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81349" y="1395131"/>
            <a:ext cx="3428914" cy="14478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893" y="1624974"/>
            <a:ext cx="266693" cy="226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1884" y="1567216"/>
            <a:ext cx="168180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Scanning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90893" y="1985682"/>
            <a:ext cx="3009824" cy="647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vulnerability scanning to identify security weaknesses like open ports and misconfigurations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0038" y="2995331"/>
            <a:ext cx="3428914" cy="1238249"/>
          </a:xfrm>
          <a:prstGeom prst="roundRect">
            <a:avLst>
              <a:gd name="adj" fmla="val 12307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83" y="3219376"/>
            <a:ext cx="266693" cy="2377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0573" y="3167416"/>
            <a:ext cx="214866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Integration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83" y="3480251"/>
            <a:ext cx="3009824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interface supporting multiple security tools for different vulnerability detection types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81349" y="2995331"/>
            <a:ext cx="3428914" cy="1238249"/>
          </a:xfrm>
          <a:prstGeom prst="roundRect">
            <a:avLst>
              <a:gd name="adj" fmla="val 12307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0893" y="3242567"/>
            <a:ext cx="266693" cy="1913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1884" y="3167416"/>
            <a:ext cx="223644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90893" y="3480251"/>
            <a:ext cx="3009824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Gathers and organizes vulnerability information from multiple tools in structured format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0038" y="4385981"/>
            <a:ext cx="3428914" cy="14478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83" y="4624521"/>
            <a:ext cx="266693" cy="20872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90573" y="4558066"/>
            <a:ext cx="161448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583" y="4976532"/>
            <a:ext cx="3009824" cy="647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Processes vulnerability data, filters duplicates, categorizes by severity, and prioritizes critical issues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81349" y="4385981"/>
            <a:ext cx="3428914" cy="14478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0893" y="4615824"/>
            <a:ext cx="266693" cy="2261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1884" y="4558066"/>
            <a:ext cx="253300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90893" y="4870902"/>
            <a:ext cx="3009824" cy="64940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 structured security audit reports with vulnerability details and mitigation strategies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1252" y="895100"/>
            <a:ext cx="4092826" cy="5496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le 44"/>
          <p:cNvSpPr/>
          <p:nvPr/>
        </p:nvSpPr>
        <p:spPr>
          <a:xfrm>
            <a:off x="7418140" y="543298"/>
            <a:ext cx="4419793" cy="5974976"/>
          </a:xfrm>
          <a:prstGeom prst="roundRect">
            <a:avLst>
              <a:gd name="adj" fmla="val 7407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" name="TextBox 1"/>
          <p:cNvSpPr txBox="1"/>
          <p:nvPr/>
        </p:nvSpPr>
        <p:spPr>
          <a:xfrm>
            <a:off x="609584" y="121127"/>
            <a:ext cx="4334072" cy="5578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and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2821" y="1008548"/>
            <a:ext cx="4076180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 with Interconnected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1341" y="1457325"/>
            <a:ext cx="3247502" cy="1443354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9311" y="1650682"/>
            <a:ext cx="264025" cy="1914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89817" y="1600045"/>
            <a:ext cx="1967175" cy="3159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1042" y="1842285"/>
            <a:ext cx="2545881" cy="75713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Interaction point for users to provide target address and view security audit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3141" y="1457325"/>
            <a:ext cx="3188664" cy="1443354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5061" y="1624964"/>
            <a:ext cx="268597" cy="2551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7954" y="1603206"/>
            <a:ext cx="2433398" cy="31598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Scanning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7954" y="1814362"/>
            <a:ext cx="2499755" cy="9725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Executes automated vulnerability scanning and coordinates multiple security analysis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1341" y="3043399"/>
            <a:ext cx="3221753" cy="1480974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198" y="3249573"/>
            <a:ext cx="228594" cy="2228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42090" y="3203023"/>
            <a:ext cx="189776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 Integration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7634" y="3614887"/>
            <a:ext cx="2419289" cy="75713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Bridge between framework and various security scanning tools with extensible design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57391" y="2998092"/>
            <a:ext cx="3214413" cy="1526281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5062" y="3262267"/>
            <a:ext cx="228594" cy="1657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287954" y="3187142"/>
            <a:ext cx="2204321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&amp;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736" y="3507165"/>
            <a:ext cx="2419289" cy="75713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Collects, standardizes, and stores vulnerability data in structured format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1341" y="4629146"/>
            <a:ext cx="3221753" cy="1485903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993" y="4826315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1885" y="4756905"/>
            <a:ext cx="2474588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Analysis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885" y="5041205"/>
            <a:ext cx="2419289" cy="9725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Removes redundant entries, categorizes vulnerabilities by severity, and prioritizes critical issues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57392" y="4629147"/>
            <a:ext cx="3214412" cy="1463948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9313" y="4826315"/>
            <a:ext cx="228594" cy="177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62205" y="4756905"/>
            <a:ext cx="2231637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Module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62205" y="4973821"/>
            <a:ext cx="2419289" cy="9725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 structured security audit reports with vulnerabilities and mitigation strategies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9804" y="720091"/>
            <a:ext cx="4016463" cy="5604881"/>
          </a:xfrm>
          <a:prstGeom prst="rect">
            <a:avLst/>
          </a:prstGeom>
          <a:effectLst>
            <a:outerShdw blurRad="50800" dist="50800" algn="ctr" rotWithShape="0">
              <a:srgbClr val="000000">
                <a:alpha val="43137"/>
              </a:srgbClr>
            </a:outerShdw>
            <a:softEdge rad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584" y="114300"/>
            <a:ext cx="109725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Languages &amp; Tools Used</a:t>
            </a:r>
          </a:p>
        </p:txBody>
      </p:sp>
      <p:sp>
        <p:nvSpPr>
          <p:cNvPr id="10" name="Card10"/>
          <p:cNvSpPr/>
          <p:nvPr/>
        </p:nvSpPr>
        <p:spPr>
          <a:xfrm>
            <a:off x="559584" y="1104800"/>
            <a:ext cx="5486109" cy="13500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Num11"/>
          <p:cNvSpPr txBox="1"/>
          <p:nvPr/>
        </p:nvSpPr>
        <p:spPr>
          <a:xfrm>
            <a:off x="799584" y="111062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2" name="Head12"/>
          <p:cNvSpPr txBox="1"/>
          <p:nvPr/>
        </p:nvSpPr>
        <p:spPr>
          <a:xfrm>
            <a:off x="1309584" y="1183984"/>
            <a:ext cx="2373791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Languages</a:t>
            </a:r>
          </a:p>
        </p:txBody>
      </p:sp>
      <p:sp>
        <p:nvSpPr>
          <p:cNvPr id="13" name="Body13"/>
          <p:cNvSpPr txBox="1"/>
          <p:nvPr/>
        </p:nvSpPr>
        <p:spPr>
          <a:xfrm>
            <a:off x="1309584" y="1564800"/>
            <a:ext cx="4686109" cy="328808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3.10+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Primary language</a:t>
            </a:r>
          </a:p>
        </p:txBody>
      </p:sp>
      <p:sp>
        <p:nvSpPr>
          <p:cNvPr id="20" name="Card20"/>
          <p:cNvSpPr/>
          <p:nvPr/>
        </p:nvSpPr>
        <p:spPr>
          <a:xfrm>
            <a:off x="6250000" y="1104800"/>
            <a:ext cx="5500000" cy="13500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Num21"/>
          <p:cNvSpPr txBox="1"/>
          <p:nvPr/>
        </p:nvSpPr>
        <p:spPr>
          <a:xfrm>
            <a:off x="6490000" y="111062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22" name="Head22"/>
          <p:cNvSpPr txBox="1"/>
          <p:nvPr/>
        </p:nvSpPr>
        <p:spPr>
          <a:xfrm>
            <a:off x="7000000" y="1183984"/>
            <a:ext cx="236295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Tools Integrated</a:t>
            </a:r>
          </a:p>
        </p:txBody>
      </p:sp>
      <p:sp>
        <p:nvSpPr>
          <p:cNvPr id="23" name="Body23"/>
          <p:cNvSpPr txBox="1"/>
          <p:nvPr/>
        </p:nvSpPr>
        <p:spPr>
          <a:xfrm>
            <a:off x="7000000" y="1564800"/>
            <a:ext cx="4700000" cy="572464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Port scanning &amp; service detection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Nikto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Web vulnerability scanning</a:t>
            </a:r>
          </a:p>
        </p:txBody>
      </p:sp>
      <p:sp>
        <p:nvSpPr>
          <p:cNvPr id="30" name="Card30"/>
          <p:cNvSpPr/>
          <p:nvPr/>
        </p:nvSpPr>
        <p:spPr>
          <a:xfrm>
            <a:off x="559584" y="2604800"/>
            <a:ext cx="5486109" cy="19000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Num31"/>
          <p:cNvSpPr txBox="1"/>
          <p:nvPr/>
        </p:nvSpPr>
        <p:spPr>
          <a:xfrm>
            <a:off x="799584" y="262062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32" name="Head32"/>
          <p:cNvSpPr txBox="1"/>
          <p:nvPr/>
        </p:nvSpPr>
        <p:spPr>
          <a:xfrm>
            <a:off x="1309584" y="2693984"/>
            <a:ext cx="236148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 &amp; Libraries</a:t>
            </a:r>
          </a:p>
        </p:txBody>
      </p:sp>
      <p:sp>
        <p:nvSpPr>
          <p:cNvPr id="33" name="Body33"/>
          <p:cNvSpPr txBox="1"/>
          <p:nvPr/>
        </p:nvSpPr>
        <p:spPr>
          <a:xfrm>
            <a:off x="1309584" y="3074800"/>
            <a:ext cx="4686109" cy="1059777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Web UI framework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Jinja2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HTML template engine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Requests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HTTP API calls (CVE enrichment)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 err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PyYAML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Configuration</a:t>
            </a:r>
          </a:p>
        </p:txBody>
      </p:sp>
      <p:sp>
        <p:nvSpPr>
          <p:cNvPr id="40" name="Card40"/>
          <p:cNvSpPr/>
          <p:nvPr/>
        </p:nvSpPr>
        <p:spPr>
          <a:xfrm>
            <a:off x="6250000" y="2604800"/>
            <a:ext cx="5500000" cy="19000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Num41"/>
          <p:cNvSpPr txBox="1"/>
          <p:nvPr/>
        </p:nvSpPr>
        <p:spPr>
          <a:xfrm>
            <a:off x="6490000" y="262062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42" name="Head42"/>
          <p:cNvSpPr txBox="1"/>
          <p:nvPr/>
        </p:nvSpPr>
        <p:spPr>
          <a:xfrm>
            <a:off x="7000000" y="2693984"/>
            <a:ext cx="1385123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External APIs</a:t>
            </a:r>
          </a:p>
        </p:txBody>
      </p:sp>
      <p:sp>
        <p:nvSpPr>
          <p:cNvPr id="43" name="Body43"/>
          <p:cNvSpPr txBox="1"/>
          <p:nvPr/>
        </p:nvSpPr>
        <p:spPr>
          <a:xfrm>
            <a:off x="7000000" y="3074800"/>
            <a:ext cx="4700000" cy="572464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NVD API</a:t>
            </a: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CVE data &amp; CVSS scores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CIRCL API</a:t>
            </a: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CVE enrichment</a:t>
            </a:r>
          </a:p>
        </p:txBody>
      </p:sp>
      <p:sp>
        <p:nvSpPr>
          <p:cNvPr id="50" name="Card50"/>
          <p:cNvSpPr/>
          <p:nvPr/>
        </p:nvSpPr>
        <p:spPr>
          <a:xfrm>
            <a:off x="559584" y="4664800"/>
            <a:ext cx="5486109" cy="16000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Num51"/>
          <p:cNvSpPr txBox="1"/>
          <p:nvPr/>
        </p:nvSpPr>
        <p:spPr>
          <a:xfrm>
            <a:off x="799584" y="468062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52" name="Head52"/>
          <p:cNvSpPr txBox="1"/>
          <p:nvPr/>
        </p:nvSpPr>
        <p:spPr>
          <a:xfrm>
            <a:off x="1309584" y="4753984"/>
            <a:ext cx="1351460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 Tools</a:t>
            </a:r>
          </a:p>
        </p:txBody>
      </p:sp>
      <p:sp>
        <p:nvSpPr>
          <p:cNvPr id="53" name="Body53"/>
          <p:cNvSpPr txBox="1"/>
          <p:nvPr/>
        </p:nvSpPr>
        <p:spPr>
          <a:xfrm>
            <a:off x="1309584" y="5134800"/>
            <a:ext cx="4686109" cy="816121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 err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Containerization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 err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Compose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Multi-service orchestration</a:t>
            </a:r>
          </a:p>
          <a:p>
            <a:pPr algn="l">
              <a:lnSpc>
                <a:spcPts val="1690"/>
              </a:lnSpc>
              <a:spcBef>
                <a:spcPts val="0"/>
              </a:spcBef>
              <a:spcAft>
                <a:spcPts val="180"/>
              </a:spcAft>
            </a:pPr>
            <a:r>
              <a:rPr sz="1400" b="1" dirty="0" err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Version control</a:t>
            </a:r>
          </a:p>
        </p:txBody>
      </p:sp>
      <p:sp>
        <p:nvSpPr>
          <p:cNvPr id="99" name="BottomLine"/>
          <p:cNvSpPr/>
          <p:nvPr/>
        </p:nvSpPr>
        <p:spPr>
          <a:xfrm>
            <a:off x="-50000" y="71247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74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584" y="114300"/>
            <a:ext cx="109725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Implementation</a:t>
            </a:r>
          </a:p>
        </p:txBody>
      </p:sp>
      <p:sp>
        <p:nvSpPr>
          <p:cNvPr id="10" name="Card10"/>
          <p:cNvSpPr/>
          <p:nvPr/>
        </p:nvSpPr>
        <p:spPr>
          <a:xfrm>
            <a:off x="609585" y="800000"/>
            <a:ext cx="7500000" cy="605467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ArchHead"/>
          <p:cNvSpPr txBox="1"/>
          <p:nvPr/>
        </p:nvSpPr>
        <p:spPr>
          <a:xfrm>
            <a:off x="1100000" y="866974"/>
            <a:ext cx="5926431" cy="326051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</a:t>
            </a:r>
            <a:r>
              <a:rPr sz="1400" b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Module → Plugin System → Intelligence Layer → Reports</a:t>
            </a:r>
          </a:p>
        </p:txBody>
      </p:sp>
      <p:sp>
        <p:nvSpPr>
          <p:cNvPr id="20" name="Card20"/>
          <p:cNvSpPr/>
          <p:nvPr/>
        </p:nvSpPr>
        <p:spPr>
          <a:xfrm>
            <a:off x="515545" y="1602840"/>
            <a:ext cx="7500000" cy="49000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Num21"/>
          <p:cNvSpPr txBox="1"/>
          <p:nvPr/>
        </p:nvSpPr>
        <p:spPr>
          <a:xfrm>
            <a:off x="755545" y="161866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22" name="Head22"/>
          <p:cNvSpPr txBox="1"/>
          <p:nvPr/>
        </p:nvSpPr>
        <p:spPr>
          <a:xfrm>
            <a:off x="1265545" y="1692024"/>
            <a:ext cx="1739515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Built</a:t>
            </a:r>
          </a:p>
        </p:txBody>
      </p:sp>
      <p:sp>
        <p:nvSpPr>
          <p:cNvPr id="30" name="Card30"/>
          <p:cNvSpPr/>
          <p:nvPr/>
        </p:nvSpPr>
        <p:spPr>
          <a:xfrm>
            <a:off x="8349715" y="544268"/>
            <a:ext cx="3576841" cy="29338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1" name="Num31"/>
          <p:cNvSpPr txBox="1"/>
          <p:nvPr/>
        </p:nvSpPr>
        <p:spPr>
          <a:xfrm>
            <a:off x="8550131" y="637702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32" name="Head32"/>
          <p:cNvSpPr txBox="1"/>
          <p:nvPr/>
        </p:nvSpPr>
        <p:spPr>
          <a:xfrm>
            <a:off x="9060131" y="711058"/>
            <a:ext cx="1314206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3" name="Body33"/>
          <p:cNvSpPr txBox="1"/>
          <p:nvPr/>
        </p:nvSpPr>
        <p:spPr>
          <a:xfrm>
            <a:off x="8930131" y="1146821"/>
            <a:ext cx="2400000" cy="2175467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 marL="285750" indent="-285750">
              <a:lnSpc>
                <a:spcPts val="1690"/>
              </a:lnSpc>
              <a:spcBef>
                <a:spcPts val="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Plugin-based extensible architecture</a:t>
            </a:r>
          </a:p>
          <a:p>
            <a:pPr marL="285750" indent="-285750">
              <a:lnSpc>
                <a:spcPts val="1690"/>
              </a:lnSpc>
              <a:spcBef>
                <a:spcPts val="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scanning with </a:t>
            </a:r>
            <a:r>
              <a:rPr sz="1400" b="0" dirty="0" err="1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ThreadPoolExecutor</a:t>
            </a:r>
            <a:endParaRPr sz="1400" b="0" dirty="0">
              <a:solidFill>
                <a:srgbClr val="D1D5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690"/>
              </a:lnSpc>
              <a:spcBef>
                <a:spcPts val="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Mock mode for </a:t>
            </a:r>
            <a:r>
              <a:rPr sz="1400" b="0" dirty="0" smtClean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en-US" sz="1400" b="0" dirty="0" smtClean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endParaRPr sz="1400" b="0" dirty="0">
              <a:solidFill>
                <a:srgbClr val="D1D5D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690"/>
              </a:lnSpc>
              <a:spcBef>
                <a:spcPts val="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sz="1400" b="0" dirty="0" smtClean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Delta</a:t>
            </a:r>
            <a:r>
              <a:rPr lang="en-US" sz="1400" b="0" dirty="0" smtClean="0">
                <a:solidFill>
                  <a:srgbClr val="2A1A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sz="1400" b="0" dirty="0" smtClean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</a:t>
            </a: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scans</a:t>
            </a:r>
          </a:p>
          <a:p>
            <a:pPr marL="285750" indent="-285750">
              <a:lnSpc>
                <a:spcPts val="1690"/>
              </a:lnSpc>
              <a:spcBef>
                <a:spcPts val="0"/>
              </a:spcBef>
              <a:spcAft>
                <a:spcPts val="180"/>
              </a:spcAft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D1D5D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OWASP compliance mapping</a:t>
            </a:r>
          </a:p>
        </p:txBody>
      </p:sp>
      <p:sp>
        <p:nvSpPr>
          <p:cNvPr id="99" name="BottomLine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740889"/>
              </p:ext>
            </p:extLst>
          </p:nvPr>
        </p:nvGraphicFramePr>
        <p:xfrm>
          <a:off x="930664" y="2028600"/>
          <a:ext cx="6534337" cy="432424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5857"/>
                <a:gridCol w="4348480"/>
              </a:tblGrid>
              <a:tr h="393113"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Module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Base Plugin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Common base for all scanners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Core Engine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Executes multiple scans simultaneously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Nmap Plugin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Detects open ports and services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Nikto Plugin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Finds website security vulnerabilities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Correlator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Organizes related vulnerability findings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Enricher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Adds CVE and threat details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Compliance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Maps issues to OWASP Top 10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Delta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Compares current and previous scans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Report Generator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Generates detailed HTML security reports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13">
                <a:tc>
                  <a:txBody>
                    <a:bodyPr/>
                    <a:lstStyle/>
                    <a:p>
                      <a:r>
                        <a:rPr lang="en-IN" sz="1800">
                          <a:solidFill>
                            <a:schemeClr val="bg1"/>
                          </a:solidFill>
                        </a:rPr>
                        <a:t>Web UI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solidFill>
                            <a:schemeClr val="bg1"/>
                          </a:solidFill>
                        </a:rPr>
                        <a:t>Provides user-friendly Flask interface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Card20"/>
          <p:cNvSpPr/>
          <p:nvPr/>
        </p:nvSpPr>
        <p:spPr>
          <a:xfrm>
            <a:off x="8349715" y="3625674"/>
            <a:ext cx="3597415" cy="2860633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Num21"/>
          <p:cNvSpPr txBox="1"/>
          <p:nvPr/>
        </p:nvSpPr>
        <p:spPr>
          <a:xfrm>
            <a:off x="8589715" y="3749464"/>
            <a:ext cx="370881" cy="50834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 smtClean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b="1" dirty="0" smtClean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1400" b="1" dirty="0">
              <a:solidFill>
                <a:srgbClr val="7DE54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Head22"/>
          <p:cNvSpPr txBox="1"/>
          <p:nvPr/>
        </p:nvSpPr>
        <p:spPr>
          <a:xfrm>
            <a:off x="9099716" y="3814682"/>
            <a:ext cx="3122284" cy="34777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</a:p>
        </p:txBody>
      </p:sp>
      <p:sp>
        <p:nvSpPr>
          <p:cNvPr id="24" name="Code23"/>
          <p:cNvSpPr txBox="1"/>
          <p:nvPr/>
        </p:nvSpPr>
        <p:spPr>
          <a:xfrm>
            <a:off x="9161012" y="4222352"/>
            <a:ext cx="2460812" cy="2008222"/>
          </a:xfrm>
          <a:prstGeom prst="rect">
            <a:avLst/>
          </a:prstGeom>
          <a:solidFill>
            <a:srgbClr val="1A0F30"/>
          </a:solidFill>
          <a:ln w="12700">
            <a:solidFill>
              <a:srgbClr val="7DE545"/>
            </a:solidFill>
          </a:ln>
        </p:spPr>
        <p:txBody>
          <a:bodyPr wrap="square" lIns="120000" tIns="80000" rIns="120000" bIns="80000" anchor="t">
            <a:spAutoFit/>
          </a:bodyPr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AutoSecAudit/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main.py          # CLI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core/            # Engine &amp; models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plugins/         # Scanners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intelligence/    # Analysis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reports/         # Generator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200" b="0" dirty="0" err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             # Flask app</a:t>
            </a: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200" b="0" dirty="0" err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endParaRPr sz="1200" b="0" dirty="0">
              <a:solidFill>
                <a:srgbClr val="7DE54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200" b="0" dirty="0" err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docker-compose.yml</a:t>
            </a:r>
            <a:endParaRPr sz="1200" b="0" dirty="0">
              <a:solidFill>
                <a:srgbClr val="7DE54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60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243412"/>
            <a:ext cx="3437468" cy="33549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722160"/>
            <a:ext cx="3440772" cy="279717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096" y="243412"/>
            <a:ext cx="3244737" cy="335492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096" y="3722160"/>
            <a:ext cx="3244737" cy="28293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118" y="362591"/>
            <a:ext cx="4582164" cy="60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9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584" y="114300"/>
            <a:ext cx="1097252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Code Pro"/>
              </a:rPr>
              <a:t>Conclusion</a:t>
            </a:r>
          </a:p>
        </p:txBody>
      </p:sp>
      <p:sp>
        <p:nvSpPr>
          <p:cNvPr id="99" name="BottomLine"/>
          <p:cNvSpPr/>
          <p:nvPr/>
        </p:nvSpPr>
        <p:spPr>
          <a:xfrm>
            <a:off x="-182731" y="6826833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rtlCol="0" anchor="ctr"/>
          <a:lstStyle/>
          <a:p>
            <a:pPr algn="ctr"/>
            <a:endParaRPr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Card10"/>
          <p:cNvSpPr/>
          <p:nvPr/>
        </p:nvSpPr>
        <p:spPr>
          <a:xfrm>
            <a:off x="559584" y="1104800"/>
            <a:ext cx="5486109" cy="13500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Num11"/>
          <p:cNvSpPr txBox="1"/>
          <p:nvPr/>
        </p:nvSpPr>
        <p:spPr>
          <a:xfrm>
            <a:off x="799584" y="111062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47" name="Body13"/>
          <p:cNvSpPr txBox="1"/>
          <p:nvPr/>
        </p:nvSpPr>
        <p:spPr>
          <a:xfrm>
            <a:off x="1126853" y="1571733"/>
            <a:ext cx="4686109" cy="546816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>
              <a:lnSpc>
                <a:spcPts val="1690"/>
              </a:lnSpc>
              <a:spcAft>
                <a:spcPts val="180"/>
              </a:spcAft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automated web security auditing framework for web applications</a:t>
            </a:r>
            <a:endParaRPr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Card20"/>
          <p:cNvSpPr/>
          <p:nvPr/>
        </p:nvSpPr>
        <p:spPr>
          <a:xfrm>
            <a:off x="6250000" y="1104800"/>
            <a:ext cx="5500000" cy="1350000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Num21"/>
          <p:cNvSpPr txBox="1"/>
          <p:nvPr/>
        </p:nvSpPr>
        <p:spPr>
          <a:xfrm>
            <a:off x="6490000" y="111062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51" name="Body23"/>
          <p:cNvSpPr txBox="1"/>
          <p:nvPr/>
        </p:nvSpPr>
        <p:spPr>
          <a:xfrm>
            <a:off x="6817269" y="1571733"/>
            <a:ext cx="4700000" cy="546816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>
              <a:lnSpc>
                <a:spcPts val="1690"/>
              </a:lnSpc>
              <a:spcAft>
                <a:spcPts val="180"/>
              </a:spcAft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multiple security scanning tools into one platform</a:t>
            </a:r>
            <a:endParaRPr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Card30"/>
          <p:cNvSpPr/>
          <p:nvPr/>
        </p:nvSpPr>
        <p:spPr>
          <a:xfrm>
            <a:off x="559584" y="2604800"/>
            <a:ext cx="5486109" cy="1385828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Num31"/>
          <p:cNvSpPr txBox="1"/>
          <p:nvPr/>
        </p:nvSpPr>
        <p:spPr>
          <a:xfrm>
            <a:off x="799584" y="262062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55" name="Body33"/>
          <p:cNvSpPr txBox="1"/>
          <p:nvPr/>
        </p:nvSpPr>
        <p:spPr>
          <a:xfrm>
            <a:off x="1126853" y="3081733"/>
            <a:ext cx="4686109" cy="550472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>
              <a:lnSpc>
                <a:spcPts val="1690"/>
              </a:lnSpc>
              <a:spcAft>
                <a:spcPts val="180"/>
              </a:spcAft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Detected common web application vulnerabilities automatically and efficiently</a:t>
            </a:r>
            <a:endParaRPr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Card40"/>
          <p:cNvSpPr/>
          <p:nvPr/>
        </p:nvSpPr>
        <p:spPr>
          <a:xfrm>
            <a:off x="6250000" y="2604800"/>
            <a:ext cx="5500000" cy="1375828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Num41"/>
          <p:cNvSpPr txBox="1"/>
          <p:nvPr/>
        </p:nvSpPr>
        <p:spPr>
          <a:xfrm>
            <a:off x="6490000" y="2620628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59" name="Body43"/>
          <p:cNvSpPr txBox="1"/>
          <p:nvPr/>
        </p:nvSpPr>
        <p:spPr>
          <a:xfrm>
            <a:off x="6817269" y="3081733"/>
            <a:ext cx="4700000" cy="550472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>
              <a:lnSpc>
                <a:spcPts val="1690"/>
              </a:lnSpc>
              <a:spcAft>
                <a:spcPts val="180"/>
              </a:spcAft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Generated centralized and structured security audit reports clearly</a:t>
            </a:r>
            <a:endParaRPr b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Card50"/>
          <p:cNvSpPr/>
          <p:nvPr/>
        </p:nvSpPr>
        <p:spPr>
          <a:xfrm>
            <a:off x="568358" y="4150628"/>
            <a:ext cx="5486109" cy="1326205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Num51"/>
          <p:cNvSpPr txBox="1"/>
          <p:nvPr/>
        </p:nvSpPr>
        <p:spPr>
          <a:xfrm>
            <a:off x="808358" y="4166456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63" name="Body53"/>
          <p:cNvSpPr txBox="1"/>
          <p:nvPr/>
        </p:nvSpPr>
        <p:spPr>
          <a:xfrm>
            <a:off x="1135627" y="4627561"/>
            <a:ext cx="4686109" cy="550472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>
              <a:lnSpc>
                <a:spcPts val="1690"/>
              </a:lnSpc>
              <a:spcAft>
                <a:spcPts val="180"/>
              </a:spcAft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vulnerability analysis, organization, and risk management process</a:t>
            </a:r>
            <a:endParaRPr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Card50"/>
          <p:cNvSpPr/>
          <p:nvPr/>
        </p:nvSpPr>
        <p:spPr>
          <a:xfrm>
            <a:off x="6263891" y="4140628"/>
            <a:ext cx="5486109" cy="1336205"/>
          </a:xfrm>
          <a:prstGeom prst="roundRect">
            <a:avLst>
              <a:gd name="adj" fmla="val 11428"/>
            </a:avLst>
          </a:prstGeom>
          <a:solidFill>
            <a:srgbClr val="FFFFFF">
              <a:alpha val="5000"/>
            </a:srgbClr>
          </a:solidFill>
          <a:ln w="16510">
            <a:solidFill>
              <a:srgbClr val="7DE545"/>
            </a:solidFill>
          </a:ln>
        </p:spPr>
        <p:txBody>
          <a:bodyPr rtlCol="0" anchor="ctr"/>
          <a:lstStyle/>
          <a:p>
            <a:pPr algn="ctr"/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Num51"/>
          <p:cNvSpPr txBox="1"/>
          <p:nvPr/>
        </p:nvSpPr>
        <p:spPr>
          <a:xfrm>
            <a:off x="6503891" y="4156456"/>
            <a:ext cx="327269" cy="50834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DE54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66" name="Body53"/>
          <p:cNvSpPr txBox="1"/>
          <p:nvPr/>
        </p:nvSpPr>
        <p:spPr>
          <a:xfrm>
            <a:off x="6831160" y="4617561"/>
            <a:ext cx="4686109" cy="550472"/>
          </a:xfrm>
          <a:prstGeom prst="rect">
            <a:avLst/>
          </a:prstGeom>
          <a:noFill/>
        </p:spPr>
        <p:txBody>
          <a:bodyPr wrap="square" lIns="73152" tIns="54864" rIns="73152" bIns="54864" anchor="t">
            <a:spAutoFit/>
          </a:bodyPr>
          <a:lstStyle/>
          <a:p>
            <a:pPr>
              <a:lnSpc>
                <a:spcPts val="1690"/>
              </a:lnSpc>
              <a:spcAft>
                <a:spcPts val="180"/>
              </a:spcAft>
            </a:pPr>
            <a:r>
              <a:rPr lang="en-US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framework for future scalability and feature enhancements</a:t>
            </a:r>
            <a:endParaRPr b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25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21127"/>
            <a:ext cx="1572097" cy="55784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1334" y="1419224"/>
            <a:ext cx="10165992" cy="4856069"/>
          </a:xfrm>
          <a:prstGeom prst="roundRect">
            <a:avLst>
              <a:gd name="adj" fmla="val 101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7DE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3391" y="1822088"/>
            <a:ext cx="9481879" cy="405034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A. M.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Akinyemi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S. Sims, “Role of Artificial Intelligence in Modern Cybersecurity Vulnerability Management Practices,” </a:t>
            </a:r>
            <a:r>
              <a:rPr lang="en-IN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World Journal of Advanced Research and Reviews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26, no. 1, pp. 555–584, 2025.</a:t>
            </a:r>
          </a:p>
          <a:p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V. T. Daniel, B.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Fawei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B. R. Japheth, “A Systematic Review of AI-Driven Automated Software Vulnerability Detection Systems,” </a:t>
            </a:r>
            <a:r>
              <a:rPr lang="en-IN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Science and Mathematical Theory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11, no. 12, pp. 98–116, 2025.</a:t>
            </a:r>
          </a:p>
          <a:p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D.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Sonawane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 Ali, S. Rajput, S.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Kushwaha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A.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Rane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“Practical Vulnerability Detection and Penetration Testing Using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Wireshark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Nmap, and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Metasploit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en-IN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Creative Research Thoughts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12, pp. b583–b590, 2025.</a:t>
            </a:r>
          </a:p>
          <a:p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J. P.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Seara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C.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Serrão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“Automation of System Security Vulnerabilities Detection Using Open-Source Software,” </a:t>
            </a:r>
            <a:r>
              <a:rPr lang="en-IN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13, no. 5, pp. 1–24, 2024.</a:t>
            </a:r>
          </a:p>
          <a:p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A. </a:t>
            </a:r>
            <a:r>
              <a:rPr lang="en-IN" sz="1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Aumpansub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Z. Huang, “Detecting Software Vulnerabilities Using Neural Networks,” in </a:t>
            </a:r>
            <a:r>
              <a:rPr lang="en-IN" sz="1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13th International Conference on Machine Learning and Computing (ICMLC)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2021, pp. 166–171, 2021.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A1A48">
                  <a:alpha val="92000"/>
                </a:srgbClr>
              </a:gs>
              <a:gs pos="100000">
                <a:srgbClr val="2A1A48">
                  <a:alpha val="88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05687" y="2611965"/>
            <a:ext cx="3943251" cy="10001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825"/>
              </a:lnSpc>
              <a:spcBef>
                <a:spcPts val="0"/>
              </a:spcBef>
              <a:spcAft>
                <a:spcPts val="1560"/>
              </a:spcAft>
            </a:pPr>
            <a:r>
              <a:rPr sz="4186" b="1">
                <a:solidFill>
                  <a:srgbClr val="FFFFFF"/>
                </a:solidFill>
                <a:latin typeface="Source Code Pro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8144" y="3840691"/>
            <a:ext cx="2438339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0" y="6819900"/>
            <a:ext cx="12191695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7DE545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349</TotalTime>
  <Words>1348</Words>
  <Application>Microsoft Office PowerPoint</Application>
  <PresentationFormat>Widescreen</PresentationFormat>
  <Paragraphs>235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Roboto Flex</vt:lpstr>
      <vt:lpstr>Source Code Pro</vt:lpstr>
      <vt:lpstr>Times New Roman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Vishal</dc:creator>
  <cp:keywords/>
  <dc:description>generated using python-pptx</dc:description>
  <cp:lastModifiedBy>Microsoft account</cp:lastModifiedBy>
  <cp:revision>18</cp:revision>
  <dcterms:created xsi:type="dcterms:W3CDTF">2013-01-27T09:14:16Z</dcterms:created>
  <dcterms:modified xsi:type="dcterms:W3CDTF">2026-05-09T09:48:39Z</dcterms:modified>
  <cp:category/>
</cp:coreProperties>
</file>